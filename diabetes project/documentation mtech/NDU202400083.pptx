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1" r:id="rId3"/>
    <p:sldId id="273" r:id="rId4"/>
    <p:sldId id="262" r:id="rId5"/>
    <p:sldId id="263" r:id="rId6"/>
    <p:sldId id="274" r:id="rId7"/>
    <p:sldId id="266" r:id="rId8"/>
    <p:sldId id="267" r:id="rId9"/>
    <p:sldId id="264" r:id="rId10"/>
    <p:sldId id="272" r:id="rId11"/>
    <p:sldId id="270"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76" d="100"/>
          <a:sy n="76" d="100"/>
        </p:scale>
        <p:origin x="17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vit Heisnam" userId="55c5fe3b33a45a93" providerId="LiveId" clId="{15BCD0D1-1DAA-4188-B8B0-9811E6F95D51}"/>
    <pc:docChg chg="undo custSel addSld delSld modSld sldOrd">
      <pc:chgData name="Kavit Heisnam" userId="55c5fe3b33a45a93" providerId="LiveId" clId="{15BCD0D1-1DAA-4188-B8B0-9811E6F95D51}" dt="2025-06-24T05:46:03.731" v="1190" actId="47"/>
      <pc:docMkLst>
        <pc:docMk/>
      </pc:docMkLst>
      <pc:sldChg chg="addSp modSp mod modTransition">
        <pc:chgData name="Kavit Heisnam" userId="55c5fe3b33a45a93" providerId="LiveId" clId="{15BCD0D1-1DAA-4188-B8B0-9811E6F95D51}" dt="2025-06-24T05:13:27.277" v="1186" actId="1076"/>
        <pc:sldMkLst>
          <pc:docMk/>
          <pc:sldMk cId="0" sldId="257"/>
        </pc:sldMkLst>
      </pc:sldChg>
      <pc:sldChg chg="modSp mod modTransition">
        <pc:chgData name="Kavit Heisnam" userId="55c5fe3b33a45a93" providerId="LiveId" clId="{15BCD0D1-1DAA-4188-B8B0-9811E6F95D51}" dt="2025-06-23T19:05:24.232" v="1184"/>
        <pc:sldMkLst>
          <pc:docMk/>
          <pc:sldMk cId="1282309567" sldId="261"/>
        </pc:sldMkLst>
      </pc:sldChg>
      <pc:sldChg chg="modSp mod modTransition">
        <pc:chgData name="Kavit Heisnam" userId="55c5fe3b33a45a93" providerId="LiveId" clId="{15BCD0D1-1DAA-4188-B8B0-9811E6F95D51}" dt="2025-06-23T19:05:24.232" v="1184"/>
        <pc:sldMkLst>
          <pc:docMk/>
          <pc:sldMk cId="2034758491" sldId="262"/>
        </pc:sldMkLst>
      </pc:sldChg>
      <pc:sldChg chg="modSp mod modTransition">
        <pc:chgData name="Kavit Heisnam" userId="55c5fe3b33a45a93" providerId="LiveId" clId="{15BCD0D1-1DAA-4188-B8B0-9811E6F95D51}" dt="2025-06-23T19:05:24.232" v="1184"/>
        <pc:sldMkLst>
          <pc:docMk/>
          <pc:sldMk cId="2321402638" sldId="263"/>
        </pc:sldMkLst>
      </pc:sldChg>
      <pc:sldChg chg="addSp delSp modSp mod modTransition">
        <pc:chgData name="Kavit Heisnam" userId="55c5fe3b33a45a93" providerId="LiveId" clId="{15BCD0D1-1DAA-4188-B8B0-9811E6F95D51}" dt="2025-06-24T05:16:44.306" v="1188" actId="20577"/>
        <pc:sldMkLst>
          <pc:docMk/>
          <pc:sldMk cId="1980272738" sldId="264"/>
        </pc:sldMkLst>
      </pc:sldChg>
      <pc:sldChg chg="modSp del mod modTransition">
        <pc:chgData name="Kavit Heisnam" userId="55c5fe3b33a45a93" providerId="LiveId" clId="{15BCD0D1-1DAA-4188-B8B0-9811E6F95D51}" dt="2025-06-24T05:46:03.731" v="1190" actId="47"/>
        <pc:sldMkLst>
          <pc:docMk/>
          <pc:sldMk cId="154538257" sldId="265"/>
        </pc:sldMkLst>
      </pc:sldChg>
      <pc:sldChg chg="modSp mod modTransition">
        <pc:chgData name="Kavit Heisnam" userId="55c5fe3b33a45a93" providerId="LiveId" clId="{15BCD0D1-1DAA-4188-B8B0-9811E6F95D51}" dt="2025-06-23T19:05:24.232" v="1184"/>
        <pc:sldMkLst>
          <pc:docMk/>
          <pc:sldMk cId="140311125" sldId="266"/>
        </pc:sldMkLst>
      </pc:sldChg>
      <pc:sldChg chg="modSp mod modTransition">
        <pc:chgData name="Kavit Heisnam" userId="55c5fe3b33a45a93" providerId="LiveId" clId="{15BCD0D1-1DAA-4188-B8B0-9811E6F95D51}" dt="2025-06-23T19:05:24.232" v="1184"/>
        <pc:sldMkLst>
          <pc:docMk/>
          <pc:sldMk cId="525101460" sldId="267"/>
        </pc:sldMkLst>
      </pc:sldChg>
      <pc:sldChg chg="modSp mod modTransition">
        <pc:chgData name="Kavit Heisnam" userId="55c5fe3b33a45a93" providerId="LiveId" clId="{15BCD0D1-1DAA-4188-B8B0-9811E6F95D51}" dt="2025-06-23T19:05:24.232" v="1184"/>
        <pc:sldMkLst>
          <pc:docMk/>
          <pc:sldMk cId="1194921520" sldId="269"/>
        </pc:sldMkLst>
      </pc:sldChg>
      <pc:sldChg chg="addSp delSp modSp mod modTransition">
        <pc:chgData name="Kavit Heisnam" userId="55c5fe3b33a45a93" providerId="LiveId" clId="{15BCD0D1-1DAA-4188-B8B0-9811E6F95D51}" dt="2025-06-23T19:05:24.232" v="1184"/>
        <pc:sldMkLst>
          <pc:docMk/>
          <pc:sldMk cId="3511329655" sldId="270"/>
        </pc:sldMkLst>
      </pc:sldChg>
      <pc:sldChg chg="new del">
        <pc:chgData name="Kavit Heisnam" userId="55c5fe3b33a45a93" providerId="LiveId" clId="{15BCD0D1-1DAA-4188-B8B0-9811E6F95D51}" dt="2025-06-23T17:09:02.090" v="187" actId="47"/>
        <pc:sldMkLst>
          <pc:docMk/>
          <pc:sldMk cId="2511650447" sldId="271"/>
        </pc:sldMkLst>
      </pc:sldChg>
      <pc:sldChg chg="addSp delSp modSp add mod ord modTransition">
        <pc:chgData name="Kavit Heisnam" userId="55c5fe3b33a45a93" providerId="LiveId" clId="{15BCD0D1-1DAA-4188-B8B0-9811E6F95D51}" dt="2025-06-23T19:05:24.232" v="1184"/>
        <pc:sldMkLst>
          <pc:docMk/>
          <pc:sldMk cId="817565656" sldId="272"/>
        </pc:sldMkLst>
      </pc:sldChg>
      <pc:sldChg chg="modSp add mod modTransition">
        <pc:chgData name="Kavit Heisnam" userId="55c5fe3b33a45a93" providerId="LiveId" clId="{15BCD0D1-1DAA-4188-B8B0-9811E6F95D51}" dt="2025-06-24T05:34:37.117" v="1189" actId="20577"/>
        <pc:sldMkLst>
          <pc:docMk/>
          <pc:sldMk cId="890434063" sldId="273"/>
        </pc:sldMkLst>
      </pc:sldChg>
      <pc:sldChg chg="addSp delSp modSp add mod modTransition">
        <pc:chgData name="Kavit Heisnam" userId="55c5fe3b33a45a93" providerId="LiveId" clId="{15BCD0D1-1DAA-4188-B8B0-9811E6F95D51}" dt="2025-06-23T19:05:24.232" v="1184"/>
        <pc:sldMkLst>
          <pc:docMk/>
          <pc:sldMk cId="1421898346" sldId="274"/>
        </pc:sldMkLst>
      </pc:sldChg>
    </pc:docChg>
  </pc:docChgLst>
  <pc:docChgLst>
    <pc:chgData name="Kavit Heisnam" userId="55c5fe3b33a45a93" providerId="LiveId" clId="{34508F88-4904-4D85-9814-5A4BE82B866B}"/>
    <pc:docChg chg="undo custSel addSld delSld modSld">
      <pc:chgData name="Kavit Heisnam" userId="55c5fe3b33a45a93" providerId="LiveId" clId="{34508F88-4904-4D85-9814-5A4BE82B866B}" dt="2025-04-15T03:46:35.785" v="234" actId="20577"/>
      <pc:docMkLst>
        <pc:docMk/>
      </pc:docMkLst>
      <pc:sldChg chg="add del">
        <pc:chgData name="Kavit Heisnam" userId="55c5fe3b33a45a93" providerId="LiveId" clId="{34508F88-4904-4D85-9814-5A4BE82B866B}" dt="2025-04-15T03:30:22.365" v="224" actId="47"/>
        <pc:sldMkLst>
          <pc:docMk/>
          <pc:sldMk cId="0" sldId="257"/>
        </pc:sldMkLst>
      </pc:sldChg>
      <pc:sldChg chg="add del">
        <pc:chgData name="Kavit Heisnam" userId="55c5fe3b33a45a93" providerId="LiveId" clId="{34508F88-4904-4D85-9814-5A4BE82B866B}" dt="2025-04-15T03:30:31.508" v="225" actId="47"/>
        <pc:sldMkLst>
          <pc:docMk/>
          <pc:sldMk cId="1980272738" sldId="264"/>
        </pc:sldMkLst>
      </pc:sldChg>
      <pc:sldChg chg="addSp modSp mod">
        <pc:chgData name="Kavit Heisnam" userId="55c5fe3b33a45a93" providerId="LiveId" clId="{34508F88-4904-4D85-9814-5A4BE82B866B}" dt="2025-04-11T11:00:24.146" v="211" actId="1076"/>
        <pc:sldMkLst>
          <pc:docMk/>
          <pc:sldMk cId="154538257" sldId="265"/>
        </pc:sldMkLst>
      </pc:sldChg>
      <pc:sldChg chg="new del">
        <pc:chgData name="Kavit Heisnam" userId="55c5fe3b33a45a93" providerId="LiveId" clId="{34508F88-4904-4D85-9814-5A4BE82B866B}" dt="2025-04-15T03:29:07.567" v="219" actId="680"/>
        <pc:sldMkLst>
          <pc:docMk/>
          <pc:sldMk cId="3116285745" sldId="268"/>
        </pc:sldMkLst>
      </pc:sldChg>
      <pc:sldChg chg="modSp add del mod">
        <pc:chgData name="Kavit Heisnam" userId="55c5fe3b33a45a93" providerId="LiveId" clId="{34508F88-4904-4D85-9814-5A4BE82B866B}" dt="2025-04-15T03:46:35.785" v="234" actId="20577"/>
        <pc:sldMkLst>
          <pc:docMk/>
          <pc:sldMk cId="1194921520" sldId="269"/>
        </pc:sldMkLst>
      </pc:sldChg>
      <pc:sldChg chg="add del">
        <pc:chgData name="Kavit Heisnam" userId="55c5fe3b33a45a93" providerId="LiveId" clId="{34508F88-4904-4D85-9814-5A4BE82B866B}" dt="2025-04-15T03:29:08.018" v="220" actId="47"/>
        <pc:sldMkLst>
          <pc:docMk/>
          <pc:sldMk cId="3511329655" sldId="270"/>
        </pc:sldMkLst>
      </pc:sldChg>
      <pc:sldChg chg="new add del">
        <pc:chgData name="Kavit Heisnam" userId="55c5fe3b33a45a93" providerId="LiveId" clId="{34508F88-4904-4D85-9814-5A4BE82B866B}" dt="2025-04-15T03:30:21.813" v="223" actId="680"/>
        <pc:sldMkLst>
          <pc:docMk/>
          <pc:sldMk cId="3443066501" sldId="271"/>
        </pc:sldMkLst>
      </pc:sldChg>
    </pc:docChg>
  </pc:docChgLst>
  <pc:docChgLst>
    <pc:chgData name="Kavit Heisnam" userId="55c5fe3b33a45a93" providerId="LiveId" clId="{8DF09AC6-882E-4000-94B8-9A304053729C}"/>
    <pc:docChg chg="custSel modSld">
      <pc:chgData name="Kavit Heisnam" userId="55c5fe3b33a45a93" providerId="LiveId" clId="{8DF09AC6-882E-4000-94B8-9A304053729C}" dt="2025-09-09T15:13:52.883" v="3" actId="313"/>
      <pc:docMkLst>
        <pc:docMk/>
      </pc:docMkLst>
      <pc:sldChg chg="modSp mod">
        <pc:chgData name="Kavit Heisnam" userId="55c5fe3b33a45a93" providerId="LiveId" clId="{8DF09AC6-882E-4000-94B8-9A304053729C}" dt="2025-09-09T15:13:52.883" v="3" actId="313"/>
        <pc:sldMkLst>
          <pc:docMk/>
          <pc:sldMk cId="1980272738" sldId="264"/>
        </pc:sldMkLst>
        <pc:spChg chg="mod">
          <ac:chgData name="Kavit Heisnam" userId="55c5fe3b33a45a93" providerId="LiveId" clId="{8DF09AC6-882E-4000-94B8-9A304053729C}" dt="2025-09-09T15:13:52.883" v="3" actId="313"/>
          <ac:spMkLst>
            <pc:docMk/>
            <pc:sldMk cId="1980272738" sldId="264"/>
            <ac:spMk id="27" creationId="{D7EB120D-320D-E5AC-1749-73B0291244A4}"/>
          </ac:spMkLst>
        </pc:spChg>
        <pc:spChg chg="mod">
          <ac:chgData name="Kavit Heisnam" userId="55c5fe3b33a45a93" providerId="LiveId" clId="{8DF09AC6-882E-4000-94B8-9A304053729C}" dt="2025-09-09T15:13:50.291" v="2" actId="313"/>
          <ac:spMkLst>
            <pc:docMk/>
            <pc:sldMk cId="1980272738" sldId="264"/>
            <ac:spMk id="46" creationId="{BF1B1545-816A-0B90-58CE-8396A2D7C8D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FECA-0D2E-C09F-DE1A-F76F45937F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960CC7-E54D-995A-4E5F-8C3187467B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8D5037-B8B8-C17A-52CB-2896135234DC}"/>
              </a:ext>
            </a:extLst>
          </p:cNvPr>
          <p:cNvSpPr>
            <a:spLocks noGrp="1"/>
          </p:cNvSpPr>
          <p:nvPr>
            <p:ph type="dt" sz="half" idx="10"/>
          </p:nvPr>
        </p:nvSpPr>
        <p:spPr/>
        <p:txBody>
          <a:bodyPr/>
          <a:lstStyle/>
          <a:p>
            <a:fld id="{0DF9FE51-6583-44EF-9285-23F987C35753}" type="datetimeFigureOut">
              <a:rPr lang="en-IN" smtClean="0"/>
              <a:t>09-09-2025</a:t>
            </a:fld>
            <a:endParaRPr lang="en-IN"/>
          </a:p>
        </p:txBody>
      </p:sp>
      <p:sp>
        <p:nvSpPr>
          <p:cNvPr id="5" name="Footer Placeholder 4">
            <a:extLst>
              <a:ext uri="{FF2B5EF4-FFF2-40B4-BE49-F238E27FC236}">
                <a16:creationId xmlns:a16="http://schemas.microsoft.com/office/drawing/2014/main" id="{B54AC68F-2E22-2884-BDAF-0CD1F38D42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F983B3-E9CB-D55C-A5AB-1B0C366758BE}"/>
              </a:ext>
            </a:extLst>
          </p:cNvPr>
          <p:cNvSpPr>
            <a:spLocks noGrp="1"/>
          </p:cNvSpPr>
          <p:nvPr>
            <p:ph type="sldNum" sz="quarter" idx="12"/>
          </p:nvPr>
        </p:nvSpPr>
        <p:spPr/>
        <p:txBody>
          <a:bodyPr/>
          <a:lstStyle/>
          <a:p>
            <a:fld id="{573E3F1A-D599-476F-8AF6-250D21133686}" type="slidenum">
              <a:rPr lang="en-IN" smtClean="0"/>
              <a:t>‹#›</a:t>
            </a:fld>
            <a:endParaRPr lang="en-IN"/>
          </a:p>
        </p:txBody>
      </p:sp>
    </p:spTree>
    <p:extLst>
      <p:ext uri="{BB962C8B-B14F-4D97-AF65-F5344CB8AC3E}">
        <p14:creationId xmlns:p14="http://schemas.microsoft.com/office/powerpoint/2010/main" val="3174756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0ACB8-C22D-C024-6A0A-F748DE71C0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BDC932-0FFE-D29D-76F0-6075955827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552CCB-E2A7-F7C3-91A1-F14F4A30082F}"/>
              </a:ext>
            </a:extLst>
          </p:cNvPr>
          <p:cNvSpPr>
            <a:spLocks noGrp="1"/>
          </p:cNvSpPr>
          <p:nvPr>
            <p:ph type="dt" sz="half" idx="10"/>
          </p:nvPr>
        </p:nvSpPr>
        <p:spPr/>
        <p:txBody>
          <a:bodyPr/>
          <a:lstStyle/>
          <a:p>
            <a:fld id="{0DF9FE51-6583-44EF-9285-23F987C35753}" type="datetimeFigureOut">
              <a:rPr lang="en-IN" smtClean="0"/>
              <a:t>09-09-2025</a:t>
            </a:fld>
            <a:endParaRPr lang="en-IN"/>
          </a:p>
        </p:txBody>
      </p:sp>
      <p:sp>
        <p:nvSpPr>
          <p:cNvPr id="5" name="Footer Placeholder 4">
            <a:extLst>
              <a:ext uri="{FF2B5EF4-FFF2-40B4-BE49-F238E27FC236}">
                <a16:creationId xmlns:a16="http://schemas.microsoft.com/office/drawing/2014/main" id="{F5F62F3D-02DE-E732-D158-2859714D1C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683F3C-3352-65C7-F3E3-BA15B42C73F6}"/>
              </a:ext>
            </a:extLst>
          </p:cNvPr>
          <p:cNvSpPr>
            <a:spLocks noGrp="1"/>
          </p:cNvSpPr>
          <p:nvPr>
            <p:ph type="sldNum" sz="quarter" idx="12"/>
          </p:nvPr>
        </p:nvSpPr>
        <p:spPr/>
        <p:txBody>
          <a:bodyPr/>
          <a:lstStyle/>
          <a:p>
            <a:fld id="{573E3F1A-D599-476F-8AF6-250D21133686}" type="slidenum">
              <a:rPr lang="en-IN" smtClean="0"/>
              <a:t>‹#›</a:t>
            </a:fld>
            <a:endParaRPr lang="en-IN"/>
          </a:p>
        </p:txBody>
      </p:sp>
    </p:spTree>
    <p:extLst>
      <p:ext uri="{BB962C8B-B14F-4D97-AF65-F5344CB8AC3E}">
        <p14:creationId xmlns:p14="http://schemas.microsoft.com/office/powerpoint/2010/main" val="372578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3DC91-1C39-7E1B-5C10-04B97DF139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06F1BD-1D57-93FE-5069-A288E061D4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2B5E41-B4DB-2930-852C-17EE99ECA41B}"/>
              </a:ext>
            </a:extLst>
          </p:cNvPr>
          <p:cNvSpPr>
            <a:spLocks noGrp="1"/>
          </p:cNvSpPr>
          <p:nvPr>
            <p:ph type="dt" sz="half" idx="10"/>
          </p:nvPr>
        </p:nvSpPr>
        <p:spPr/>
        <p:txBody>
          <a:bodyPr/>
          <a:lstStyle/>
          <a:p>
            <a:fld id="{0DF9FE51-6583-44EF-9285-23F987C35753}" type="datetimeFigureOut">
              <a:rPr lang="en-IN" smtClean="0"/>
              <a:t>09-09-2025</a:t>
            </a:fld>
            <a:endParaRPr lang="en-IN"/>
          </a:p>
        </p:txBody>
      </p:sp>
      <p:sp>
        <p:nvSpPr>
          <p:cNvPr id="5" name="Footer Placeholder 4">
            <a:extLst>
              <a:ext uri="{FF2B5EF4-FFF2-40B4-BE49-F238E27FC236}">
                <a16:creationId xmlns:a16="http://schemas.microsoft.com/office/drawing/2014/main" id="{BF23E431-52B4-E75C-C6F7-772BD98D73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8ED96E-4AEA-8875-59DD-1B8D9305C29C}"/>
              </a:ext>
            </a:extLst>
          </p:cNvPr>
          <p:cNvSpPr>
            <a:spLocks noGrp="1"/>
          </p:cNvSpPr>
          <p:nvPr>
            <p:ph type="sldNum" sz="quarter" idx="12"/>
          </p:nvPr>
        </p:nvSpPr>
        <p:spPr/>
        <p:txBody>
          <a:bodyPr/>
          <a:lstStyle/>
          <a:p>
            <a:fld id="{573E3F1A-D599-476F-8AF6-250D21133686}" type="slidenum">
              <a:rPr lang="en-IN" smtClean="0"/>
              <a:t>‹#›</a:t>
            </a:fld>
            <a:endParaRPr lang="en-IN"/>
          </a:p>
        </p:txBody>
      </p:sp>
    </p:spTree>
    <p:extLst>
      <p:ext uri="{BB962C8B-B14F-4D97-AF65-F5344CB8AC3E}">
        <p14:creationId xmlns:p14="http://schemas.microsoft.com/office/powerpoint/2010/main" val="2290464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A0A3D-B60F-CA52-648D-FF9AE55FCB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0167C2C-49AD-16C8-7DF4-C959CD6BAB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4DD2FE-24BA-56A4-CB89-82A2ADE34C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23B98C8-77A6-C04B-BF9C-AA626FA747E8}"/>
              </a:ext>
            </a:extLst>
          </p:cNvPr>
          <p:cNvSpPr>
            <a:spLocks noGrp="1"/>
          </p:cNvSpPr>
          <p:nvPr>
            <p:ph type="dt" sz="half" idx="10"/>
          </p:nvPr>
        </p:nvSpPr>
        <p:spPr/>
        <p:txBody>
          <a:bodyPr/>
          <a:lstStyle/>
          <a:p>
            <a:fld id="{0DF9FE51-6583-44EF-9285-23F987C35753}" type="datetimeFigureOut">
              <a:rPr lang="en-IN" smtClean="0"/>
              <a:t>09-09-2025</a:t>
            </a:fld>
            <a:endParaRPr lang="en-IN"/>
          </a:p>
        </p:txBody>
      </p:sp>
      <p:sp>
        <p:nvSpPr>
          <p:cNvPr id="6" name="Footer Placeholder 5">
            <a:extLst>
              <a:ext uri="{FF2B5EF4-FFF2-40B4-BE49-F238E27FC236}">
                <a16:creationId xmlns:a16="http://schemas.microsoft.com/office/drawing/2014/main" id="{B017F516-35F9-84BD-5E0D-EC27485AD7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DF761B-25E9-04E7-6B22-41EB7E3414A4}"/>
              </a:ext>
            </a:extLst>
          </p:cNvPr>
          <p:cNvSpPr>
            <a:spLocks noGrp="1"/>
          </p:cNvSpPr>
          <p:nvPr>
            <p:ph type="sldNum" sz="quarter" idx="12"/>
          </p:nvPr>
        </p:nvSpPr>
        <p:spPr/>
        <p:txBody>
          <a:bodyPr/>
          <a:lstStyle/>
          <a:p>
            <a:fld id="{573E3F1A-D599-476F-8AF6-250D21133686}" type="slidenum">
              <a:rPr lang="en-IN" smtClean="0"/>
              <a:t>‹#›</a:t>
            </a:fld>
            <a:endParaRPr lang="en-IN"/>
          </a:p>
        </p:txBody>
      </p:sp>
    </p:spTree>
    <p:extLst>
      <p:ext uri="{BB962C8B-B14F-4D97-AF65-F5344CB8AC3E}">
        <p14:creationId xmlns:p14="http://schemas.microsoft.com/office/powerpoint/2010/main" val="713154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66A8F-6D17-9AEA-8DA4-1225684C3E5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89B46D-DC9C-D8B1-309D-CCEFEC8DE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3711F0-6DD2-59AE-1CFA-96B6B67EA7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67E7F9A-B3BE-3207-88A4-23CE4A1478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BA1AE7-B0B5-C3B2-D289-EE782466B7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2BB8B8-6D91-D943-5FEC-0A78AF072842}"/>
              </a:ext>
            </a:extLst>
          </p:cNvPr>
          <p:cNvSpPr>
            <a:spLocks noGrp="1"/>
          </p:cNvSpPr>
          <p:nvPr>
            <p:ph type="dt" sz="half" idx="10"/>
          </p:nvPr>
        </p:nvSpPr>
        <p:spPr/>
        <p:txBody>
          <a:bodyPr/>
          <a:lstStyle/>
          <a:p>
            <a:fld id="{0DF9FE51-6583-44EF-9285-23F987C35753}" type="datetimeFigureOut">
              <a:rPr lang="en-IN" smtClean="0"/>
              <a:t>09-09-2025</a:t>
            </a:fld>
            <a:endParaRPr lang="en-IN"/>
          </a:p>
        </p:txBody>
      </p:sp>
      <p:sp>
        <p:nvSpPr>
          <p:cNvPr id="8" name="Footer Placeholder 7">
            <a:extLst>
              <a:ext uri="{FF2B5EF4-FFF2-40B4-BE49-F238E27FC236}">
                <a16:creationId xmlns:a16="http://schemas.microsoft.com/office/drawing/2014/main" id="{3BBFAC82-3EAD-E9CA-14C9-91DD600CA36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E5CEE9-31CA-A2DF-2863-E29215A1B68D}"/>
              </a:ext>
            </a:extLst>
          </p:cNvPr>
          <p:cNvSpPr>
            <a:spLocks noGrp="1"/>
          </p:cNvSpPr>
          <p:nvPr>
            <p:ph type="sldNum" sz="quarter" idx="12"/>
          </p:nvPr>
        </p:nvSpPr>
        <p:spPr/>
        <p:txBody>
          <a:bodyPr/>
          <a:lstStyle/>
          <a:p>
            <a:fld id="{573E3F1A-D599-476F-8AF6-250D21133686}" type="slidenum">
              <a:rPr lang="en-IN" smtClean="0"/>
              <a:t>‹#›</a:t>
            </a:fld>
            <a:endParaRPr lang="en-IN"/>
          </a:p>
        </p:txBody>
      </p:sp>
    </p:spTree>
    <p:extLst>
      <p:ext uri="{BB962C8B-B14F-4D97-AF65-F5344CB8AC3E}">
        <p14:creationId xmlns:p14="http://schemas.microsoft.com/office/powerpoint/2010/main" val="3381193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7C647-9590-E205-EE58-3E02613AAF1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2E2B5F-836A-0D2B-739B-ED6166532947}"/>
              </a:ext>
            </a:extLst>
          </p:cNvPr>
          <p:cNvSpPr>
            <a:spLocks noGrp="1"/>
          </p:cNvSpPr>
          <p:nvPr>
            <p:ph type="dt" sz="half" idx="10"/>
          </p:nvPr>
        </p:nvSpPr>
        <p:spPr/>
        <p:txBody>
          <a:bodyPr/>
          <a:lstStyle/>
          <a:p>
            <a:fld id="{0DF9FE51-6583-44EF-9285-23F987C35753}" type="datetimeFigureOut">
              <a:rPr lang="en-IN" smtClean="0"/>
              <a:t>09-09-2025</a:t>
            </a:fld>
            <a:endParaRPr lang="en-IN"/>
          </a:p>
        </p:txBody>
      </p:sp>
      <p:sp>
        <p:nvSpPr>
          <p:cNvPr id="4" name="Footer Placeholder 3">
            <a:extLst>
              <a:ext uri="{FF2B5EF4-FFF2-40B4-BE49-F238E27FC236}">
                <a16:creationId xmlns:a16="http://schemas.microsoft.com/office/drawing/2014/main" id="{C8E76BDC-8216-6976-F4B0-669A92CF631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3A8FA26-6127-66E0-365E-7E08E449238E}"/>
              </a:ext>
            </a:extLst>
          </p:cNvPr>
          <p:cNvSpPr>
            <a:spLocks noGrp="1"/>
          </p:cNvSpPr>
          <p:nvPr>
            <p:ph type="sldNum" sz="quarter" idx="12"/>
          </p:nvPr>
        </p:nvSpPr>
        <p:spPr/>
        <p:txBody>
          <a:bodyPr/>
          <a:lstStyle/>
          <a:p>
            <a:fld id="{573E3F1A-D599-476F-8AF6-250D21133686}" type="slidenum">
              <a:rPr lang="en-IN" smtClean="0"/>
              <a:t>‹#›</a:t>
            </a:fld>
            <a:endParaRPr lang="en-IN"/>
          </a:p>
        </p:txBody>
      </p:sp>
    </p:spTree>
    <p:extLst>
      <p:ext uri="{BB962C8B-B14F-4D97-AF65-F5344CB8AC3E}">
        <p14:creationId xmlns:p14="http://schemas.microsoft.com/office/powerpoint/2010/main" val="735877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65A668-C28A-2218-11E6-E6322D4227B1}"/>
              </a:ext>
            </a:extLst>
          </p:cNvPr>
          <p:cNvSpPr>
            <a:spLocks noGrp="1"/>
          </p:cNvSpPr>
          <p:nvPr>
            <p:ph type="dt" sz="half" idx="10"/>
          </p:nvPr>
        </p:nvSpPr>
        <p:spPr/>
        <p:txBody>
          <a:bodyPr/>
          <a:lstStyle/>
          <a:p>
            <a:fld id="{0DF9FE51-6583-44EF-9285-23F987C35753}" type="datetimeFigureOut">
              <a:rPr lang="en-IN" smtClean="0"/>
              <a:t>09-09-2025</a:t>
            </a:fld>
            <a:endParaRPr lang="en-IN"/>
          </a:p>
        </p:txBody>
      </p:sp>
      <p:sp>
        <p:nvSpPr>
          <p:cNvPr id="3" name="Footer Placeholder 2">
            <a:extLst>
              <a:ext uri="{FF2B5EF4-FFF2-40B4-BE49-F238E27FC236}">
                <a16:creationId xmlns:a16="http://schemas.microsoft.com/office/drawing/2014/main" id="{6C921611-61B8-7B21-BC6B-EBA6B4342A5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50499AD-DCD8-C52F-7523-6C6E56C8F753}"/>
              </a:ext>
            </a:extLst>
          </p:cNvPr>
          <p:cNvSpPr>
            <a:spLocks noGrp="1"/>
          </p:cNvSpPr>
          <p:nvPr>
            <p:ph type="sldNum" sz="quarter" idx="12"/>
          </p:nvPr>
        </p:nvSpPr>
        <p:spPr/>
        <p:txBody>
          <a:bodyPr/>
          <a:lstStyle/>
          <a:p>
            <a:fld id="{573E3F1A-D599-476F-8AF6-250D21133686}" type="slidenum">
              <a:rPr lang="en-IN" smtClean="0"/>
              <a:t>‹#›</a:t>
            </a:fld>
            <a:endParaRPr lang="en-IN"/>
          </a:p>
        </p:txBody>
      </p:sp>
    </p:spTree>
    <p:extLst>
      <p:ext uri="{BB962C8B-B14F-4D97-AF65-F5344CB8AC3E}">
        <p14:creationId xmlns:p14="http://schemas.microsoft.com/office/powerpoint/2010/main" val="2427271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F3C41-4B2A-5D59-D3BC-15E4DA7FAB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DBEE34B-94B7-0B3D-BE5B-4468AE07A1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D2F1FA-20B5-473D-EF66-D8E71518B3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7FF7F-4786-51BC-F398-48611E481788}"/>
              </a:ext>
            </a:extLst>
          </p:cNvPr>
          <p:cNvSpPr>
            <a:spLocks noGrp="1"/>
          </p:cNvSpPr>
          <p:nvPr>
            <p:ph type="dt" sz="half" idx="10"/>
          </p:nvPr>
        </p:nvSpPr>
        <p:spPr/>
        <p:txBody>
          <a:bodyPr/>
          <a:lstStyle/>
          <a:p>
            <a:fld id="{0DF9FE51-6583-44EF-9285-23F987C35753}" type="datetimeFigureOut">
              <a:rPr lang="en-IN" smtClean="0"/>
              <a:t>09-09-2025</a:t>
            </a:fld>
            <a:endParaRPr lang="en-IN"/>
          </a:p>
        </p:txBody>
      </p:sp>
      <p:sp>
        <p:nvSpPr>
          <p:cNvPr id="6" name="Footer Placeholder 5">
            <a:extLst>
              <a:ext uri="{FF2B5EF4-FFF2-40B4-BE49-F238E27FC236}">
                <a16:creationId xmlns:a16="http://schemas.microsoft.com/office/drawing/2014/main" id="{4980B86D-24F6-82B2-7F60-F315178402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7E1195-C223-BD44-A100-D7225DB1CAB2}"/>
              </a:ext>
            </a:extLst>
          </p:cNvPr>
          <p:cNvSpPr>
            <a:spLocks noGrp="1"/>
          </p:cNvSpPr>
          <p:nvPr>
            <p:ph type="sldNum" sz="quarter" idx="12"/>
          </p:nvPr>
        </p:nvSpPr>
        <p:spPr/>
        <p:txBody>
          <a:bodyPr/>
          <a:lstStyle/>
          <a:p>
            <a:fld id="{573E3F1A-D599-476F-8AF6-250D21133686}" type="slidenum">
              <a:rPr lang="en-IN" smtClean="0"/>
              <a:t>‹#›</a:t>
            </a:fld>
            <a:endParaRPr lang="en-IN"/>
          </a:p>
        </p:txBody>
      </p:sp>
    </p:spTree>
    <p:extLst>
      <p:ext uri="{BB962C8B-B14F-4D97-AF65-F5344CB8AC3E}">
        <p14:creationId xmlns:p14="http://schemas.microsoft.com/office/powerpoint/2010/main" val="1971731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D167-9DA8-76A1-6EB4-43B960F388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C653A97-FAF6-3C8E-BCA5-3F97679454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4B5FD6-F643-BDF7-03A5-2286F1AEFE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9C9814-35C9-1709-54EA-6C178A85C9D7}"/>
              </a:ext>
            </a:extLst>
          </p:cNvPr>
          <p:cNvSpPr>
            <a:spLocks noGrp="1"/>
          </p:cNvSpPr>
          <p:nvPr>
            <p:ph type="dt" sz="half" idx="10"/>
          </p:nvPr>
        </p:nvSpPr>
        <p:spPr/>
        <p:txBody>
          <a:bodyPr/>
          <a:lstStyle/>
          <a:p>
            <a:fld id="{0DF9FE51-6583-44EF-9285-23F987C35753}" type="datetimeFigureOut">
              <a:rPr lang="en-IN" smtClean="0"/>
              <a:t>09-09-2025</a:t>
            </a:fld>
            <a:endParaRPr lang="en-IN"/>
          </a:p>
        </p:txBody>
      </p:sp>
      <p:sp>
        <p:nvSpPr>
          <p:cNvPr id="6" name="Footer Placeholder 5">
            <a:extLst>
              <a:ext uri="{FF2B5EF4-FFF2-40B4-BE49-F238E27FC236}">
                <a16:creationId xmlns:a16="http://schemas.microsoft.com/office/drawing/2014/main" id="{8BEF7378-B377-DC37-8C12-5B569E776D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F5D781-887F-9CDA-AC03-8B3ED6415057}"/>
              </a:ext>
            </a:extLst>
          </p:cNvPr>
          <p:cNvSpPr>
            <a:spLocks noGrp="1"/>
          </p:cNvSpPr>
          <p:nvPr>
            <p:ph type="sldNum" sz="quarter" idx="12"/>
          </p:nvPr>
        </p:nvSpPr>
        <p:spPr/>
        <p:txBody>
          <a:bodyPr/>
          <a:lstStyle/>
          <a:p>
            <a:fld id="{573E3F1A-D599-476F-8AF6-250D21133686}" type="slidenum">
              <a:rPr lang="en-IN" smtClean="0"/>
              <a:t>‹#›</a:t>
            </a:fld>
            <a:endParaRPr lang="en-IN"/>
          </a:p>
        </p:txBody>
      </p:sp>
    </p:spTree>
    <p:extLst>
      <p:ext uri="{BB962C8B-B14F-4D97-AF65-F5344CB8AC3E}">
        <p14:creationId xmlns:p14="http://schemas.microsoft.com/office/powerpoint/2010/main" val="3303819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272F6-6DFC-840D-7457-BE8A522DA64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51E86C-B184-45E0-62E6-AD005AD829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BB7EE9-1295-FD9F-2A2F-C2F7646CFEB4}"/>
              </a:ext>
            </a:extLst>
          </p:cNvPr>
          <p:cNvSpPr>
            <a:spLocks noGrp="1"/>
          </p:cNvSpPr>
          <p:nvPr>
            <p:ph type="dt" sz="half" idx="10"/>
          </p:nvPr>
        </p:nvSpPr>
        <p:spPr/>
        <p:txBody>
          <a:bodyPr/>
          <a:lstStyle/>
          <a:p>
            <a:fld id="{0DF9FE51-6583-44EF-9285-23F987C35753}" type="datetimeFigureOut">
              <a:rPr lang="en-IN" smtClean="0"/>
              <a:t>09-09-2025</a:t>
            </a:fld>
            <a:endParaRPr lang="en-IN"/>
          </a:p>
        </p:txBody>
      </p:sp>
      <p:sp>
        <p:nvSpPr>
          <p:cNvPr id="5" name="Footer Placeholder 4">
            <a:extLst>
              <a:ext uri="{FF2B5EF4-FFF2-40B4-BE49-F238E27FC236}">
                <a16:creationId xmlns:a16="http://schemas.microsoft.com/office/drawing/2014/main" id="{9447B95C-2C15-C831-55D2-645B8D0D0E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52E34B-3127-8304-B414-DAEE8A1A8FB1}"/>
              </a:ext>
            </a:extLst>
          </p:cNvPr>
          <p:cNvSpPr>
            <a:spLocks noGrp="1"/>
          </p:cNvSpPr>
          <p:nvPr>
            <p:ph type="sldNum" sz="quarter" idx="12"/>
          </p:nvPr>
        </p:nvSpPr>
        <p:spPr/>
        <p:txBody>
          <a:bodyPr/>
          <a:lstStyle/>
          <a:p>
            <a:fld id="{573E3F1A-D599-476F-8AF6-250D21133686}" type="slidenum">
              <a:rPr lang="en-IN" smtClean="0"/>
              <a:t>‹#›</a:t>
            </a:fld>
            <a:endParaRPr lang="en-IN"/>
          </a:p>
        </p:txBody>
      </p:sp>
    </p:spTree>
    <p:extLst>
      <p:ext uri="{BB962C8B-B14F-4D97-AF65-F5344CB8AC3E}">
        <p14:creationId xmlns:p14="http://schemas.microsoft.com/office/powerpoint/2010/main" val="3408881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85579C-C8C6-8879-B5B0-B02A516836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3BD640-ED78-8709-182D-95DD65BAEA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B63130-D81A-7F96-DA90-BC9BA0E158D7}"/>
              </a:ext>
            </a:extLst>
          </p:cNvPr>
          <p:cNvSpPr>
            <a:spLocks noGrp="1"/>
          </p:cNvSpPr>
          <p:nvPr>
            <p:ph type="dt" sz="half" idx="10"/>
          </p:nvPr>
        </p:nvSpPr>
        <p:spPr/>
        <p:txBody>
          <a:bodyPr/>
          <a:lstStyle/>
          <a:p>
            <a:fld id="{0DF9FE51-6583-44EF-9285-23F987C35753}" type="datetimeFigureOut">
              <a:rPr lang="en-IN" smtClean="0"/>
              <a:t>09-09-2025</a:t>
            </a:fld>
            <a:endParaRPr lang="en-IN"/>
          </a:p>
        </p:txBody>
      </p:sp>
      <p:sp>
        <p:nvSpPr>
          <p:cNvPr id="5" name="Footer Placeholder 4">
            <a:extLst>
              <a:ext uri="{FF2B5EF4-FFF2-40B4-BE49-F238E27FC236}">
                <a16:creationId xmlns:a16="http://schemas.microsoft.com/office/drawing/2014/main" id="{75F52BFC-FEAC-651B-BA2D-5800A378C2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04F7A9-BA20-D096-26BC-3694CFE2B690}"/>
              </a:ext>
            </a:extLst>
          </p:cNvPr>
          <p:cNvSpPr>
            <a:spLocks noGrp="1"/>
          </p:cNvSpPr>
          <p:nvPr>
            <p:ph type="sldNum" sz="quarter" idx="12"/>
          </p:nvPr>
        </p:nvSpPr>
        <p:spPr/>
        <p:txBody>
          <a:bodyPr/>
          <a:lstStyle/>
          <a:p>
            <a:fld id="{573E3F1A-D599-476F-8AF6-250D21133686}" type="slidenum">
              <a:rPr lang="en-IN" smtClean="0"/>
              <a:t>‹#›</a:t>
            </a:fld>
            <a:endParaRPr lang="en-IN"/>
          </a:p>
        </p:txBody>
      </p:sp>
    </p:spTree>
    <p:extLst>
      <p:ext uri="{BB962C8B-B14F-4D97-AF65-F5344CB8AC3E}">
        <p14:creationId xmlns:p14="http://schemas.microsoft.com/office/powerpoint/2010/main" val="119625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913680" y="618480"/>
            <a:ext cx="10364040" cy="1595880"/>
          </a:xfrm>
          <a:prstGeom prst="rect">
            <a:avLst/>
          </a:prstGeom>
          <a:noFill/>
          <a:ln w="0">
            <a:noFill/>
          </a:ln>
        </p:spPr>
        <p:txBody>
          <a:bodyPr lIns="0" tIns="0" rIns="0" bIns="0" anchor="ctr">
            <a:noAutofit/>
          </a:bodyPr>
          <a:lstStyle/>
          <a:p>
            <a:endParaRPr lang="en-US" sz="1800" b="0" strike="noStrike" spc="-1">
              <a:solidFill>
                <a:srgbClr val="FFFFFF"/>
              </a:solidFill>
              <a:latin typeface="Tw Cen MT"/>
            </a:endParaRPr>
          </a:p>
        </p:txBody>
      </p:sp>
      <p:sp>
        <p:nvSpPr>
          <p:cNvPr id="8" name="PlaceHolder 2"/>
          <p:cNvSpPr>
            <a:spLocks noGrp="1"/>
          </p:cNvSpPr>
          <p:nvPr>
            <p:ph type="subTitle"/>
          </p:nvPr>
        </p:nvSpPr>
        <p:spPr>
          <a:xfrm>
            <a:off x="913680" y="2367000"/>
            <a:ext cx="10363320" cy="342360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C436A9F6-C8BF-4F2B-9ECC-53EA99178D14}" type="slidenum">
              <a:t>‹#›</a:t>
            </a:fld>
            <a:endParaRPr/>
          </a:p>
        </p:txBody>
      </p:sp>
      <p:sp>
        <p:nvSpPr>
          <p:cNvPr id="6" name="PlaceHolder 5"/>
          <p:cNvSpPr>
            <a:spLocks noGrp="1"/>
          </p:cNvSpPr>
          <p:nvPr>
            <p:ph type="dt" idx="1"/>
          </p:nvPr>
        </p:nvSpPr>
        <p:spPr/>
        <p:txBody>
          <a:bodyPr/>
          <a:lstStyle/>
          <a:p>
            <a:endParaRPr/>
          </a:p>
        </p:txBody>
      </p:sp>
    </p:spTree>
    <p:extLst>
      <p:ext uri="{BB962C8B-B14F-4D97-AF65-F5344CB8AC3E}">
        <p14:creationId xmlns:p14="http://schemas.microsoft.com/office/powerpoint/2010/main" val="144326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3F43DC-3ECD-B9BE-B453-1EE87F1027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A37EAF-FDDF-9BB6-3FE5-14A9B97D32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DE90B5-E64B-FC4D-B635-6AEB045F1F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F9FE51-6583-44EF-9285-23F987C35753}" type="datetimeFigureOut">
              <a:rPr lang="en-IN" smtClean="0"/>
              <a:t>09-09-2025</a:t>
            </a:fld>
            <a:endParaRPr lang="en-IN"/>
          </a:p>
        </p:txBody>
      </p:sp>
      <p:sp>
        <p:nvSpPr>
          <p:cNvPr id="5" name="Footer Placeholder 4">
            <a:extLst>
              <a:ext uri="{FF2B5EF4-FFF2-40B4-BE49-F238E27FC236}">
                <a16:creationId xmlns:a16="http://schemas.microsoft.com/office/drawing/2014/main" id="{DA4E8250-9D54-0929-CB5D-7684B5A97C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3F358B8-5D90-8ED4-0D96-DF0466C61F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3E3F1A-D599-476F-8AF6-250D21133686}" type="slidenum">
              <a:rPr lang="en-IN" smtClean="0"/>
              <a:t>‹#›</a:t>
            </a:fld>
            <a:endParaRPr lang="en-IN"/>
          </a:p>
        </p:txBody>
      </p:sp>
    </p:spTree>
    <p:extLst>
      <p:ext uri="{BB962C8B-B14F-4D97-AF65-F5344CB8AC3E}">
        <p14:creationId xmlns:p14="http://schemas.microsoft.com/office/powerpoint/2010/main" val="208052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subTitle"/>
          </p:nvPr>
        </p:nvSpPr>
        <p:spPr>
          <a:xfrm>
            <a:off x="7124560" y="3850261"/>
            <a:ext cx="3649016" cy="1362073"/>
          </a:xfrm>
          <a:prstGeom prst="rect">
            <a:avLst/>
          </a:prstGeom>
          <a:noFill/>
          <a:ln w="0">
            <a:noFill/>
          </a:ln>
        </p:spPr>
        <p:txBody>
          <a:bodyPr anchor="t">
            <a:normAutofit/>
          </a:bodyPr>
          <a:lstStyle/>
          <a:p>
            <a:pPr marL="0" lvl="0" indent="0" rtl="0">
              <a:lnSpc>
                <a:spcPct val="90000"/>
              </a:lnSpc>
              <a:spcBef>
                <a:spcPts val="1000"/>
              </a:spcBef>
              <a:spcAft>
                <a:spcPts val="0"/>
              </a:spcAft>
              <a:buClr>
                <a:schemeClr val="dk1"/>
              </a:buClr>
              <a:buSzPts val="2400"/>
              <a:buNone/>
            </a:pPr>
            <a:r>
              <a:rPr lang="en-US" sz="2400" i="1" dirty="0">
                <a:latin typeface="+mn-lt"/>
              </a:rPr>
              <a:t>Heisnam Kavit Singh</a:t>
            </a:r>
          </a:p>
          <a:p>
            <a:pPr marL="0" lvl="0" indent="0" rtl="0">
              <a:lnSpc>
                <a:spcPct val="90000"/>
              </a:lnSpc>
              <a:spcBef>
                <a:spcPts val="1000"/>
              </a:spcBef>
              <a:spcAft>
                <a:spcPts val="0"/>
              </a:spcAft>
              <a:buClr>
                <a:schemeClr val="dk1"/>
              </a:buClr>
              <a:buSzPts val="2400"/>
              <a:buNone/>
            </a:pPr>
            <a:r>
              <a:rPr lang="en-US" sz="2400" i="1" dirty="0">
                <a:latin typeface="+mn-lt"/>
              </a:rPr>
              <a:t>MTech-AI NDU202400083</a:t>
            </a:r>
            <a:endParaRPr lang="en-IN" sz="2400" i="1" dirty="0">
              <a:latin typeface="+mn-lt"/>
            </a:endParaRPr>
          </a:p>
        </p:txBody>
      </p:sp>
      <p:sp>
        <p:nvSpPr>
          <p:cNvPr id="2" name="Google Shape;101;p1">
            <a:extLst>
              <a:ext uri="{FF2B5EF4-FFF2-40B4-BE49-F238E27FC236}">
                <a16:creationId xmlns:a16="http://schemas.microsoft.com/office/drawing/2014/main" id="{993D3FDE-5117-31C4-209A-3CA436BFFACA}"/>
              </a:ext>
            </a:extLst>
          </p:cNvPr>
          <p:cNvSpPr/>
          <p:nvPr/>
        </p:nvSpPr>
        <p:spPr>
          <a:xfrm>
            <a:off x="10617958" y="0"/>
            <a:ext cx="1446781" cy="1173707"/>
          </a:xfrm>
          <a:custGeom>
            <a:avLst/>
            <a:gdLst/>
            <a:ahLst/>
            <a:cxnLst/>
            <a:rect l="l" t="t" r="r" b="b"/>
            <a:pathLst>
              <a:path w="1283459" h="963151" extrusionOk="0">
                <a:moveTo>
                  <a:pt x="0" y="0"/>
                </a:moveTo>
                <a:lnTo>
                  <a:pt x="1283459" y="0"/>
                </a:lnTo>
                <a:lnTo>
                  <a:pt x="1283459" y="963151"/>
                </a:lnTo>
                <a:lnTo>
                  <a:pt x="0" y="963151"/>
                </a:lnTo>
                <a:lnTo>
                  <a:pt x="0" y="0"/>
                </a:lnTo>
                <a:close/>
              </a:path>
            </a:pathLst>
          </a:custGeom>
          <a:blipFill rotWithShape="1">
            <a:blip r:embed="rId2">
              <a:alphaModFix amt="94000"/>
            </a:blip>
            <a:stretch>
              <a:fillRect/>
            </a:stretch>
          </a:blipFill>
          <a:ln>
            <a:noFill/>
          </a:ln>
        </p:spPr>
        <p:txBody>
          <a:bodyPr/>
          <a:lstStyle/>
          <a:p>
            <a:endParaRPr lang="en-IN"/>
          </a:p>
        </p:txBody>
      </p:sp>
      <p:sp>
        <p:nvSpPr>
          <p:cNvPr id="3" name="TextBox 2">
            <a:extLst>
              <a:ext uri="{FF2B5EF4-FFF2-40B4-BE49-F238E27FC236}">
                <a16:creationId xmlns:a16="http://schemas.microsoft.com/office/drawing/2014/main" id="{777445D2-3AC9-30BD-4EA6-CC2458C96BF8}"/>
              </a:ext>
            </a:extLst>
          </p:cNvPr>
          <p:cNvSpPr txBox="1"/>
          <p:nvPr/>
        </p:nvSpPr>
        <p:spPr>
          <a:xfrm>
            <a:off x="1418424" y="1173707"/>
            <a:ext cx="9355152" cy="1502847"/>
          </a:xfrm>
          <a:prstGeom prst="rect">
            <a:avLst/>
          </a:prstGeom>
          <a:noFill/>
        </p:spPr>
        <p:txBody>
          <a:bodyPr wrap="square" rtlCol="0">
            <a:spAutoFit/>
          </a:bodyPr>
          <a:lstStyle/>
          <a:p>
            <a:pPr algn="ctr">
              <a:lnSpc>
                <a:spcPct val="150000"/>
              </a:lnSpc>
            </a:pPr>
            <a:r>
              <a:rPr lang="en-US" sz="3600" b="1" dirty="0"/>
              <a:t>“Diabetes Prediction Using Machine Learning”</a:t>
            </a:r>
          </a:p>
          <a:p>
            <a:pPr algn="ctr">
              <a:lnSpc>
                <a:spcPct val="150000"/>
              </a:lnSpc>
            </a:pPr>
            <a:r>
              <a:rPr lang="en-US" sz="2800" dirty="0">
                <a:effectLst>
                  <a:outerShdw blurRad="38100" dist="38100" dir="2700000" algn="tl">
                    <a:srgbClr val="000000">
                      <a:alpha val="43137"/>
                    </a:srgbClr>
                  </a:outerShdw>
                </a:effectLst>
              </a:rPr>
              <a:t>NIELIT Imphal, Deemed to be University</a:t>
            </a:r>
            <a:endParaRPr lang="en-IN" sz="2800" dirty="0">
              <a:effectLst>
                <a:outerShdw blurRad="38100" dist="38100" dir="2700000" algn="tl">
                  <a:srgbClr val="000000">
                    <a:alpha val="43137"/>
                  </a:srgbClr>
                </a:outerShdw>
              </a:effectLst>
            </a:endParaRPr>
          </a:p>
        </p:txBody>
      </p:sp>
      <p:sp>
        <p:nvSpPr>
          <p:cNvPr id="4" name="PlaceHolder 1">
            <a:extLst>
              <a:ext uri="{FF2B5EF4-FFF2-40B4-BE49-F238E27FC236}">
                <a16:creationId xmlns:a16="http://schemas.microsoft.com/office/drawing/2014/main" id="{13C2A49F-E6D6-D3DB-9A08-144703697833}"/>
              </a:ext>
            </a:extLst>
          </p:cNvPr>
          <p:cNvSpPr>
            <a:spLocks noGrp="1"/>
          </p:cNvSpPr>
          <p:nvPr>
            <p:ph type="subTitle"/>
          </p:nvPr>
        </p:nvSpPr>
        <p:spPr>
          <a:xfrm>
            <a:off x="1551409" y="3852151"/>
            <a:ext cx="3365715" cy="1502847"/>
          </a:xfrm>
          <a:prstGeom prst="rect">
            <a:avLst/>
          </a:prstGeom>
          <a:noFill/>
          <a:ln w="0">
            <a:noFill/>
          </a:ln>
        </p:spPr>
        <p:txBody>
          <a:bodyPr anchor="t">
            <a:normAutofit/>
          </a:bodyPr>
          <a:lstStyle/>
          <a:p>
            <a:pPr marL="0" lvl="0" indent="0" algn="ctr" rtl="0">
              <a:lnSpc>
                <a:spcPct val="90000"/>
              </a:lnSpc>
              <a:spcBef>
                <a:spcPts val="1000"/>
              </a:spcBef>
              <a:spcAft>
                <a:spcPts val="0"/>
              </a:spcAft>
              <a:buClr>
                <a:schemeClr val="dk1"/>
              </a:buClr>
              <a:buSzPts val="2400"/>
              <a:buNone/>
            </a:pPr>
            <a:r>
              <a:rPr lang="en-US" sz="2400" i="1" dirty="0">
                <a:latin typeface="+mn-lt"/>
              </a:rPr>
              <a:t>Under the Guidance of </a:t>
            </a:r>
            <a:br>
              <a:rPr lang="en-US" sz="2400" i="1" dirty="0">
                <a:latin typeface="+mn-lt"/>
              </a:rPr>
            </a:br>
            <a:r>
              <a:rPr lang="en-US" sz="2400" i="1" dirty="0">
                <a:latin typeface="+mn-lt"/>
              </a:rPr>
              <a:t>Dr. </a:t>
            </a:r>
            <a:r>
              <a:rPr lang="en-US" sz="2400" i="1" dirty="0" err="1">
                <a:latin typeface="+mn-lt"/>
              </a:rPr>
              <a:t>Usham</a:t>
            </a:r>
            <a:r>
              <a:rPr lang="en-US" sz="2400" i="1" dirty="0">
                <a:latin typeface="+mn-lt"/>
              </a:rPr>
              <a:t> </a:t>
            </a:r>
            <a:r>
              <a:rPr lang="en-US" sz="2400" i="1" dirty="0" err="1">
                <a:latin typeface="+mn-lt"/>
              </a:rPr>
              <a:t>Sanjota</a:t>
            </a:r>
            <a:r>
              <a:rPr lang="en-US" sz="2400" i="1" dirty="0">
                <a:latin typeface="+mn-lt"/>
              </a:rPr>
              <a:t> Devi</a:t>
            </a:r>
            <a:br>
              <a:rPr lang="en-US" sz="2400" i="1" dirty="0">
                <a:latin typeface="+mn-lt"/>
              </a:rPr>
            </a:br>
            <a:r>
              <a:rPr lang="en-US" sz="2400" i="1" dirty="0">
                <a:latin typeface="+mn-lt"/>
              </a:rPr>
              <a:t>Assistance Professor</a:t>
            </a:r>
            <a:endParaRPr lang="en-IN" sz="2400" i="1" dirty="0">
              <a:latin typeface="+mn-lt"/>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0E254-30CE-FA44-1AA6-F92C9EB8F50E}"/>
            </a:ext>
          </a:extLst>
        </p:cNvPr>
        <p:cNvGrpSpPr/>
        <p:nvPr/>
      </p:nvGrpSpPr>
      <p:grpSpPr>
        <a:xfrm>
          <a:off x="0" y="0"/>
          <a:ext cx="0" cy="0"/>
          <a:chOff x="0" y="0"/>
          <a:chExt cx="0" cy="0"/>
        </a:xfrm>
      </p:grpSpPr>
      <p:sp>
        <p:nvSpPr>
          <p:cNvPr id="2" name="Google Shape;101;p1">
            <a:extLst>
              <a:ext uri="{FF2B5EF4-FFF2-40B4-BE49-F238E27FC236}">
                <a16:creationId xmlns:a16="http://schemas.microsoft.com/office/drawing/2014/main" id="{E0E8780A-45CC-E5E5-E66B-C39D56D117C1}"/>
              </a:ext>
            </a:extLst>
          </p:cNvPr>
          <p:cNvSpPr/>
          <p:nvPr/>
        </p:nvSpPr>
        <p:spPr>
          <a:xfrm>
            <a:off x="10617958" y="0"/>
            <a:ext cx="1446781" cy="1173707"/>
          </a:xfrm>
          <a:custGeom>
            <a:avLst/>
            <a:gdLst/>
            <a:ahLst/>
            <a:cxnLst/>
            <a:rect l="l" t="t" r="r" b="b"/>
            <a:pathLst>
              <a:path w="1283459" h="963151" extrusionOk="0">
                <a:moveTo>
                  <a:pt x="0" y="0"/>
                </a:moveTo>
                <a:lnTo>
                  <a:pt x="1283459" y="0"/>
                </a:lnTo>
                <a:lnTo>
                  <a:pt x="1283459" y="963151"/>
                </a:lnTo>
                <a:lnTo>
                  <a:pt x="0" y="963151"/>
                </a:lnTo>
                <a:lnTo>
                  <a:pt x="0" y="0"/>
                </a:lnTo>
                <a:close/>
              </a:path>
            </a:pathLst>
          </a:custGeom>
          <a:blipFill rotWithShape="1">
            <a:blip r:embed="rId2">
              <a:alphaModFix amt="94000"/>
            </a:blip>
            <a:stretch>
              <a:fillRect/>
            </a:stretch>
          </a:blipFill>
          <a:ln>
            <a:noFill/>
          </a:ln>
        </p:spPr>
        <p:txBody>
          <a:bodyPr/>
          <a:lstStyle/>
          <a:p>
            <a:endParaRPr lang="en-IN"/>
          </a:p>
        </p:txBody>
      </p:sp>
      <p:sp>
        <p:nvSpPr>
          <p:cNvPr id="6" name="Google Shape;96;p2">
            <a:extLst>
              <a:ext uri="{FF2B5EF4-FFF2-40B4-BE49-F238E27FC236}">
                <a16:creationId xmlns:a16="http://schemas.microsoft.com/office/drawing/2014/main" id="{C04BB72B-5E47-812E-614E-72BD3174FF58}"/>
              </a:ext>
            </a:extLst>
          </p:cNvPr>
          <p:cNvSpPr txBox="1">
            <a:spLocks noGrp="1"/>
          </p:cNvSpPr>
          <p:nvPr/>
        </p:nvSpPr>
        <p:spPr>
          <a:xfrm>
            <a:off x="825748" y="254634"/>
            <a:ext cx="1051560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chemeClr val="dk1"/>
              </a:buClr>
              <a:buSzPts val="4400"/>
              <a:buFont typeface="Times New Roman"/>
              <a:buNone/>
            </a:pPr>
            <a:r>
              <a:rPr lang="en-IN" sz="3600" b="1" dirty="0">
                <a:latin typeface="Times New Roman"/>
                <a:ea typeface="Times New Roman"/>
                <a:cs typeface="Times New Roman"/>
                <a:sym typeface="Times New Roman"/>
              </a:rPr>
              <a:t>Contents</a:t>
            </a:r>
            <a:r>
              <a:rPr lang="en-IN"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p:txBody>
      </p:sp>
      <p:sp>
        <p:nvSpPr>
          <p:cNvPr id="7" name="Google Shape;97;p2">
            <a:extLst>
              <a:ext uri="{FF2B5EF4-FFF2-40B4-BE49-F238E27FC236}">
                <a16:creationId xmlns:a16="http://schemas.microsoft.com/office/drawing/2014/main" id="{969401BD-D820-42C9-3EB4-E4F6CE9FBE64}"/>
              </a:ext>
            </a:extLst>
          </p:cNvPr>
          <p:cNvSpPr txBox="1">
            <a:spLocks noGrp="1"/>
          </p:cNvSpPr>
          <p:nvPr/>
        </p:nvSpPr>
        <p:spPr>
          <a:xfrm>
            <a:off x="825748" y="1327673"/>
            <a:ext cx="10515600" cy="4066448"/>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800"/>
              <a:buFont typeface="Courier New" panose="02070309020205020404" pitchFamily="49" charset="0"/>
              <a:buChar char="o"/>
            </a:pPr>
            <a:r>
              <a:rPr lang="en-US" sz="2400" dirty="0"/>
              <a:t>Abstract</a:t>
            </a:r>
          </a:p>
          <a:p>
            <a:pPr indent="-457200">
              <a:lnSpc>
                <a:spcPct val="150000"/>
              </a:lnSpc>
              <a:spcBef>
                <a:spcPts val="0"/>
              </a:spcBef>
              <a:buSzPts val="2800"/>
              <a:buFont typeface="Courier New" panose="02070309020205020404" pitchFamily="49" charset="0"/>
              <a:buChar char="o"/>
            </a:pPr>
            <a:r>
              <a:rPr lang="en-IN" sz="2400" dirty="0"/>
              <a:t>Introduction</a:t>
            </a:r>
          </a:p>
          <a:p>
            <a:pPr lvl="0" indent="-457200" algn="l" rtl="0">
              <a:lnSpc>
                <a:spcPct val="90000"/>
              </a:lnSpc>
              <a:spcBef>
                <a:spcPts val="1000"/>
              </a:spcBef>
              <a:spcAft>
                <a:spcPts val="0"/>
              </a:spcAft>
              <a:buClr>
                <a:schemeClr val="dk1"/>
              </a:buClr>
              <a:buSzPts val="2800"/>
              <a:buFont typeface="Courier New" panose="02070309020205020404" pitchFamily="49" charset="0"/>
              <a:buChar char="o"/>
            </a:pPr>
            <a:r>
              <a:rPr lang="en-IN" sz="2400" dirty="0"/>
              <a:t>Objective </a:t>
            </a:r>
          </a:p>
          <a:p>
            <a:pPr lvl="0" indent="-457200" algn="l" rtl="0">
              <a:lnSpc>
                <a:spcPct val="90000"/>
              </a:lnSpc>
              <a:spcBef>
                <a:spcPts val="1000"/>
              </a:spcBef>
              <a:spcAft>
                <a:spcPts val="0"/>
              </a:spcAft>
              <a:buClr>
                <a:schemeClr val="dk1"/>
              </a:buClr>
              <a:buSzPts val="2800"/>
              <a:buFont typeface="Courier New" panose="02070309020205020404" pitchFamily="49" charset="0"/>
              <a:buChar char="o"/>
            </a:pPr>
            <a:r>
              <a:rPr lang="en-IN" sz="2400" dirty="0"/>
              <a:t>Drawback Existing System</a:t>
            </a:r>
          </a:p>
          <a:p>
            <a:pPr lvl="0" indent="-457200" algn="l" rtl="0">
              <a:lnSpc>
                <a:spcPct val="90000"/>
              </a:lnSpc>
              <a:spcBef>
                <a:spcPts val="1000"/>
              </a:spcBef>
              <a:spcAft>
                <a:spcPts val="0"/>
              </a:spcAft>
              <a:buClr>
                <a:schemeClr val="dk1"/>
              </a:buClr>
              <a:buSzPts val="2800"/>
              <a:buFont typeface="Courier New" panose="02070309020205020404" pitchFamily="49" charset="0"/>
              <a:buChar char="o"/>
            </a:pPr>
            <a:r>
              <a:rPr lang="en-IN" sz="2400" dirty="0"/>
              <a:t>Literature Review</a:t>
            </a:r>
          </a:p>
          <a:p>
            <a:pPr lvl="0" indent="-457200" algn="l" rtl="0">
              <a:lnSpc>
                <a:spcPct val="90000"/>
              </a:lnSpc>
              <a:spcBef>
                <a:spcPts val="1000"/>
              </a:spcBef>
              <a:spcAft>
                <a:spcPts val="0"/>
              </a:spcAft>
              <a:buClr>
                <a:schemeClr val="dk1"/>
              </a:buClr>
              <a:buSzPts val="2800"/>
              <a:buFont typeface="Courier New" panose="02070309020205020404" pitchFamily="49" charset="0"/>
              <a:buChar char="o"/>
            </a:pPr>
            <a:r>
              <a:rPr lang="en-IN" sz="2400" dirty="0"/>
              <a:t>Methodology</a:t>
            </a:r>
            <a:endParaRPr sz="2400" dirty="0"/>
          </a:p>
          <a:p>
            <a:pPr lvl="0" indent="-457200" algn="l" rtl="0">
              <a:lnSpc>
                <a:spcPct val="90000"/>
              </a:lnSpc>
              <a:spcBef>
                <a:spcPts val="1000"/>
              </a:spcBef>
              <a:spcAft>
                <a:spcPts val="0"/>
              </a:spcAft>
              <a:buClr>
                <a:schemeClr val="dk1"/>
              </a:buClr>
              <a:buSzPts val="2800"/>
              <a:buFont typeface="Courier New" panose="02070309020205020404" pitchFamily="49" charset="0"/>
              <a:buChar char="o"/>
            </a:pPr>
            <a:r>
              <a:rPr lang="en-IN" sz="2400" dirty="0"/>
              <a:t>Flow Diagram</a:t>
            </a:r>
          </a:p>
          <a:p>
            <a:pPr lvl="0" indent="-457200" algn="l" rtl="0">
              <a:lnSpc>
                <a:spcPct val="90000"/>
              </a:lnSpc>
              <a:spcBef>
                <a:spcPts val="1000"/>
              </a:spcBef>
              <a:spcAft>
                <a:spcPts val="0"/>
              </a:spcAft>
              <a:buClr>
                <a:schemeClr val="dk1"/>
              </a:buClr>
              <a:buSzPts val="2800"/>
              <a:buFont typeface="Courier New" panose="02070309020205020404" pitchFamily="49" charset="0"/>
              <a:buChar char="o"/>
            </a:pPr>
            <a:r>
              <a:rPr lang="en-IN" sz="2400" dirty="0"/>
              <a:t>Implementation</a:t>
            </a:r>
          </a:p>
          <a:p>
            <a:pPr lvl="0" indent="-457200" algn="l" rtl="0">
              <a:lnSpc>
                <a:spcPct val="90000"/>
              </a:lnSpc>
              <a:spcBef>
                <a:spcPts val="1000"/>
              </a:spcBef>
              <a:spcAft>
                <a:spcPts val="0"/>
              </a:spcAft>
              <a:buClr>
                <a:schemeClr val="dk1"/>
              </a:buClr>
              <a:buSzPts val="2800"/>
              <a:buFont typeface="Courier New" panose="02070309020205020404" pitchFamily="49" charset="0"/>
              <a:buChar char="o"/>
            </a:pPr>
            <a:r>
              <a:rPr lang="en-IN" sz="2400" dirty="0"/>
              <a:t>Conclusion </a:t>
            </a:r>
            <a:endParaRPr sz="2400" dirty="0"/>
          </a:p>
          <a:p>
            <a:pPr marL="228600" lvl="0" indent="-50800" algn="l" rtl="0">
              <a:lnSpc>
                <a:spcPct val="90000"/>
              </a:lnSpc>
              <a:spcBef>
                <a:spcPts val="1000"/>
              </a:spcBef>
              <a:spcAft>
                <a:spcPts val="0"/>
              </a:spcAft>
              <a:buClr>
                <a:schemeClr val="dk1"/>
              </a:buClr>
              <a:buSzPts val="2800"/>
              <a:buNone/>
            </a:pPr>
            <a:endParaRPr dirty="0"/>
          </a:p>
          <a:p>
            <a:pPr marL="0" lvl="0" indent="0" algn="l" rtl="0">
              <a:lnSpc>
                <a:spcPct val="90000"/>
              </a:lnSpc>
              <a:spcBef>
                <a:spcPts val="1000"/>
              </a:spcBef>
              <a:spcAft>
                <a:spcPts val="0"/>
              </a:spcAft>
              <a:buClr>
                <a:schemeClr val="dk1"/>
              </a:buClr>
              <a:buSzPts val="2800"/>
              <a:buNone/>
            </a:pPr>
            <a:endParaRPr dirty="0"/>
          </a:p>
        </p:txBody>
      </p:sp>
    </p:spTree>
    <p:extLst>
      <p:ext uri="{BB962C8B-B14F-4D97-AF65-F5344CB8AC3E}">
        <p14:creationId xmlns:p14="http://schemas.microsoft.com/office/powerpoint/2010/main" val="12823095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2575-CECC-CECD-C96A-1E1CB6625B62}"/>
            </a:ext>
          </a:extLst>
        </p:cNvPr>
        <p:cNvGrpSpPr/>
        <p:nvPr/>
      </p:nvGrpSpPr>
      <p:grpSpPr>
        <a:xfrm>
          <a:off x="0" y="0"/>
          <a:ext cx="0" cy="0"/>
          <a:chOff x="0" y="0"/>
          <a:chExt cx="0" cy="0"/>
        </a:xfrm>
      </p:grpSpPr>
      <p:sp>
        <p:nvSpPr>
          <p:cNvPr id="2" name="Google Shape;101;p1">
            <a:extLst>
              <a:ext uri="{FF2B5EF4-FFF2-40B4-BE49-F238E27FC236}">
                <a16:creationId xmlns:a16="http://schemas.microsoft.com/office/drawing/2014/main" id="{F19DBF3A-7BC9-27DE-EEB9-DB29C9280345}"/>
              </a:ext>
            </a:extLst>
          </p:cNvPr>
          <p:cNvSpPr/>
          <p:nvPr/>
        </p:nvSpPr>
        <p:spPr>
          <a:xfrm>
            <a:off x="10617958" y="0"/>
            <a:ext cx="1446781" cy="1173707"/>
          </a:xfrm>
          <a:custGeom>
            <a:avLst/>
            <a:gdLst/>
            <a:ahLst/>
            <a:cxnLst/>
            <a:rect l="l" t="t" r="r" b="b"/>
            <a:pathLst>
              <a:path w="1283459" h="963151" extrusionOk="0">
                <a:moveTo>
                  <a:pt x="0" y="0"/>
                </a:moveTo>
                <a:lnTo>
                  <a:pt x="1283459" y="0"/>
                </a:lnTo>
                <a:lnTo>
                  <a:pt x="1283459" y="963151"/>
                </a:lnTo>
                <a:lnTo>
                  <a:pt x="0" y="963151"/>
                </a:lnTo>
                <a:lnTo>
                  <a:pt x="0" y="0"/>
                </a:lnTo>
                <a:close/>
              </a:path>
            </a:pathLst>
          </a:custGeom>
          <a:blipFill rotWithShape="1">
            <a:blip r:embed="rId2">
              <a:alphaModFix amt="94000"/>
            </a:blip>
            <a:stretch>
              <a:fillRect/>
            </a:stretch>
          </a:blipFill>
          <a:ln>
            <a:noFill/>
          </a:ln>
        </p:spPr>
        <p:txBody>
          <a:bodyPr/>
          <a:lstStyle/>
          <a:p>
            <a:endParaRPr lang="en-IN"/>
          </a:p>
        </p:txBody>
      </p:sp>
      <p:sp>
        <p:nvSpPr>
          <p:cNvPr id="6" name="Google Shape;96;p2">
            <a:extLst>
              <a:ext uri="{FF2B5EF4-FFF2-40B4-BE49-F238E27FC236}">
                <a16:creationId xmlns:a16="http://schemas.microsoft.com/office/drawing/2014/main" id="{5ACCD456-AF93-3963-D010-CE000E5BB715}"/>
              </a:ext>
            </a:extLst>
          </p:cNvPr>
          <p:cNvSpPr txBox="1">
            <a:spLocks noGrp="1"/>
          </p:cNvSpPr>
          <p:nvPr/>
        </p:nvSpPr>
        <p:spPr>
          <a:xfrm>
            <a:off x="825748" y="254634"/>
            <a:ext cx="10515600" cy="80237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chemeClr val="dk1"/>
              </a:buClr>
              <a:buSzPts val="4400"/>
              <a:buFont typeface="Times New Roman"/>
              <a:buNone/>
            </a:pPr>
            <a:r>
              <a:rPr lang="en-US" sz="3600" b="1" dirty="0">
                <a:latin typeface="Times New Roman"/>
                <a:ea typeface="Times New Roman"/>
                <a:cs typeface="Times New Roman"/>
                <a:sym typeface="Times New Roman"/>
              </a:rPr>
              <a:t>A</a:t>
            </a:r>
            <a:r>
              <a:rPr lang="en-IN" sz="3600" b="1" dirty="0" err="1">
                <a:latin typeface="Times New Roman"/>
                <a:ea typeface="Times New Roman"/>
                <a:cs typeface="Times New Roman"/>
                <a:sym typeface="Times New Roman"/>
              </a:rPr>
              <a:t>bstract</a:t>
            </a:r>
            <a:endParaRPr dirty="0">
              <a:latin typeface="Times New Roman"/>
              <a:ea typeface="Times New Roman"/>
              <a:cs typeface="Times New Roman"/>
              <a:sym typeface="Times New Roman"/>
            </a:endParaRPr>
          </a:p>
        </p:txBody>
      </p:sp>
      <p:sp>
        <p:nvSpPr>
          <p:cNvPr id="7" name="Google Shape;97;p2">
            <a:extLst>
              <a:ext uri="{FF2B5EF4-FFF2-40B4-BE49-F238E27FC236}">
                <a16:creationId xmlns:a16="http://schemas.microsoft.com/office/drawing/2014/main" id="{BFBE1747-D1D8-86C6-A274-CF5A7B52DA88}"/>
              </a:ext>
            </a:extLst>
          </p:cNvPr>
          <p:cNvSpPr txBox="1">
            <a:spLocks noGrp="1"/>
          </p:cNvSpPr>
          <p:nvPr/>
        </p:nvSpPr>
        <p:spPr>
          <a:xfrm>
            <a:off x="838200" y="875503"/>
            <a:ext cx="10515600" cy="5106994"/>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50000"/>
              </a:lnSpc>
              <a:buFont typeface="Wingdings" panose="05000000000000000000" pitchFamily="2" charset="2"/>
              <a:buChar char="v"/>
            </a:pPr>
            <a:r>
              <a:rPr lang="en-US" sz="2400" dirty="0"/>
              <a:t>This project explores the use of machine learning techniques for predicting diabetes risk using patient health data. Four algorithms—K-Nearest Neighbors (KNN), Naive Bayes, Random Forest, and Logistic Regression—were implemented and compared on a dataset of 768 individuals. </a:t>
            </a:r>
          </a:p>
          <a:p>
            <a:pPr algn="just">
              <a:lnSpc>
                <a:spcPct val="150000"/>
              </a:lnSpc>
              <a:buFont typeface="Wingdings" panose="05000000000000000000" pitchFamily="2" charset="2"/>
              <a:buChar char="v"/>
            </a:pPr>
            <a:r>
              <a:rPr lang="en-US" sz="2400" dirty="0"/>
              <a:t>After preprocessing, the data was split into 80% training and 20% testing sets. Model performance was evaluated using accuracy, precision, recall, and F1-score. </a:t>
            </a:r>
          </a:p>
          <a:p>
            <a:pPr algn="just">
              <a:lnSpc>
                <a:spcPct val="150000"/>
              </a:lnSpc>
              <a:buFont typeface="Wingdings" panose="05000000000000000000" pitchFamily="2" charset="2"/>
              <a:buChar char="v"/>
            </a:pPr>
            <a:r>
              <a:rPr lang="en-US" sz="2400" dirty="0"/>
              <a:t>Results showed that Naive Bayes achieved the highest accuracy (77%), followed by Logistic Regression (76%), KNN (75%), and Random Forest (74%). This study highlights the potential of machine learning in developing effective tools for early diabetes detection and better healthcare decision-making.</a:t>
            </a:r>
            <a:endParaRPr sz="2400" dirty="0"/>
          </a:p>
          <a:p>
            <a:pPr marL="0" lvl="0" indent="0" algn="l" rtl="0">
              <a:lnSpc>
                <a:spcPct val="90000"/>
              </a:lnSpc>
              <a:spcBef>
                <a:spcPts val="1000"/>
              </a:spcBef>
              <a:spcAft>
                <a:spcPts val="0"/>
              </a:spcAft>
              <a:buClr>
                <a:schemeClr val="dk1"/>
              </a:buClr>
              <a:buSzPts val="2800"/>
              <a:buNone/>
            </a:pPr>
            <a:endParaRPr dirty="0"/>
          </a:p>
        </p:txBody>
      </p:sp>
    </p:spTree>
    <p:extLst>
      <p:ext uri="{BB962C8B-B14F-4D97-AF65-F5344CB8AC3E}">
        <p14:creationId xmlns:p14="http://schemas.microsoft.com/office/powerpoint/2010/main" val="8904340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821C2-4C15-B035-ACB4-3F117E81F996}"/>
            </a:ext>
          </a:extLst>
        </p:cNvPr>
        <p:cNvGrpSpPr/>
        <p:nvPr/>
      </p:nvGrpSpPr>
      <p:grpSpPr>
        <a:xfrm>
          <a:off x="0" y="0"/>
          <a:ext cx="0" cy="0"/>
          <a:chOff x="0" y="0"/>
          <a:chExt cx="0" cy="0"/>
        </a:xfrm>
      </p:grpSpPr>
      <p:sp>
        <p:nvSpPr>
          <p:cNvPr id="2" name="Google Shape;101;p1">
            <a:extLst>
              <a:ext uri="{FF2B5EF4-FFF2-40B4-BE49-F238E27FC236}">
                <a16:creationId xmlns:a16="http://schemas.microsoft.com/office/drawing/2014/main" id="{7E0A34E0-4D9E-13EC-E95E-A899CB4D05E1}"/>
              </a:ext>
            </a:extLst>
          </p:cNvPr>
          <p:cNvSpPr/>
          <p:nvPr/>
        </p:nvSpPr>
        <p:spPr>
          <a:xfrm>
            <a:off x="10617958" y="0"/>
            <a:ext cx="1446781" cy="1173707"/>
          </a:xfrm>
          <a:custGeom>
            <a:avLst/>
            <a:gdLst/>
            <a:ahLst/>
            <a:cxnLst/>
            <a:rect l="l" t="t" r="r" b="b"/>
            <a:pathLst>
              <a:path w="1283459" h="963151" extrusionOk="0">
                <a:moveTo>
                  <a:pt x="0" y="0"/>
                </a:moveTo>
                <a:lnTo>
                  <a:pt x="1283459" y="0"/>
                </a:lnTo>
                <a:lnTo>
                  <a:pt x="1283459" y="963151"/>
                </a:lnTo>
                <a:lnTo>
                  <a:pt x="0" y="963151"/>
                </a:lnTo>
                <a:lnTo>
                  <a:pt x="0" y="0"/>
                </a:lnTo>
                <a:close/>
              </a:path>
            </a:pathLst>
          </a:custGeom>
          <a:blipFill rotWithShape="1">
            <a:blip r:embed="rId2">
              <a:alphaModFix amt="94000"/>
            </a:blip>
            <a:stretch>
              <a:fillRect/>
            </a:stretch>
          </a:blipFill>
          <a:ln>
            <a:noFill/>
          </a:ln>
        </p:spPr>
        <p:txBody>
          <a:bodyPr/>
          <a:lstStyle/>
          <a:p>
            <a:endParaRPr lang="en-IN"/>
          </a:p>
        </p:txBody>
      </p:sp>
      <p:sp>
        <p:nvSpPr>
          <p:cNvPr id="6" name="Google Shape;96;p2">
            <a:extLst>
              <a:ext uri="{FF2B5EF4-FFF2-40B4-BE49-F238E27FC236}">
                <a16:creationId xmlns:a16="http://schemas.microsoft.com/office/drawing/2014/main" id="{BBF43073-EEFA-271C-83C8-94B0A00A7286}"/>
              </a:ext>
            </a:extLst>
          </p:cNvPr>
          <p:cNvSpPr txBox="1">
            <a:spLocks noGrp="1"/>
          </p:cNvSpPr>
          <p:nvPr/>
        </p:nvSpPr>
        <p:spPr>
          <a:xfrm>
            <a:off x="838200" y="523081"/>
            <a:ext cx="10515600" cy="81076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chemeClr val="dk1"/>
              </a:buClr>
              <a:buSzPts val="4400"/>
              <a:buFont typeface="Times New Roman"/>
              <a:buNone/>
            </a:pPr>
            <a:r>
              <a:rPr lang="en-US" sz="3600" b="1" dirty="0">
                <a:latin typeface="Times New Roman"/>
                <a:ea typeface="Times New Roman"/>
                <a:cs typeface="Times New Roman"/>
                <a:sym typeface="Times New Roman"/>
              </a:rPr>
              <a:t>I</a:t>
            </a:r>
            <a:r>
              <a:rPr lang="en-IN" sz="3600" b="1" dirty="0" err="1">
                <a:latin typeface="Times New Roman"/>
                <a:ea typeface="Times New Roman"/>
                <a:cs typeface="Times New Roman"/>
                <a:sym typeface="Times New Roman"/>
              </a:rPr>
              <a:t>ntroduction</a:t>
            </a:r>
            <a:endParaRPr sz="3600" b="1" dirty="0">
              <a:latin typeface="Times New Roman"/>
              <a:ea typeface="Times New Roman"/>
              <a:cs typeface="Times New Roman"/>
              <a:sym typeface="Times New Roman"/>
            </a:endParaRPr>
          </a:p>
        </p:txBody>
      </p:sp>
      <p:sp>
        <p:nvSpPr>
          <p:cNvPr id="7" name="Google Shape;97;p2">
            <a:extLst>
              <a:ext uri="{FF2B5EF4-FFF2-40B4-BE49-F238E27FC236}">
                <a16:creationId xmlns:a16="http://schemas.microsoft.com/office/drawing/2014/main" id="{EF492C55-5C5F-84ED-483F-338580DE8B1E}"/>
              </a:ext>
            </a:extLst>
          </p:cNvPr>
          <p:cNvSpPr txBox="1">
            <a:spLocks noGrp="1"/>
          </p:cNvSpPr>
          <p:nvPr/>
        </p:nvSpPr>
        <p:spPr>
          <a:xfrm>
            <a:off x="838200" y="1253331"/>
            <a:ext cx="10515600" cy="435133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lvl="0" indent="0" algn="just" rtl="0">
              <a:lnSpc>
                <a:spcPct val="150000"/>
              </a:lnSpc>
              <a:spcBef>
                <a:spcPts val="0"/>
              </a:spcBef>
              <a:spcAft>
                <a:spcPts val="0"/>
              </a:spcAft>
              <a:buClr>
                <a:schemeClr val="dk1"/>
              </a:buClr>
              <a:buSzPts val="2800"/>
              <a:buNone/>
            </a:pPr>
            <a:r>
              <a:rPr lang="en-IN" sz="2000" dirty="0"/>
              <a:t>Diabetes is a chronic metabolic disorder characterized by elevated blood glucose levels, affecting millions of people worldwide. </a:t>
            </a:r>
            <a:r>
              <a:rPr lang="en-US" sz="2000" dirty="0"/>
              <a:t>Early detection and intervention are crucial for managing the disease and  preventing complications. In recent years, machine learning techniques have shown </a:t>
            </a:r>
            <a:r>
              <a:rPr lang="en-US" sz="2000" b="1" dirty="0"/>
              <a:t>promising results in predicting diabetes risk, offering potential for improved screen and preventive care</a:t>
            </a:r>
            <a:r>
              <a:rPr lang="en-US" sz="2000" dirty="0"/>
              <a:t>.</a:t>
            </a:r>
            <a:endParaRPr sz="2000" dirty="0"/>
          </a:p>
          <a:p>
            <a:pPr marL="0" lvl="0" indent="0" algn="just" rtl="0">
              <a:lnSpc>
                <a:spcPct val="90000"/>
              </a:lnSpc>
              <a:spcBef>
                <a:spcPts val="1000"/>
              </a:spcBef>
              <a:spcAft>
                <a:spcPts val="0"/>
              </a:spcAft>
              <a:buClr>
                <a:schemeClr val="dk1"/>
              </a:buClr>
              <a:buSzPts val="2800"/>
              <a:buNone/>
            </a:pPr>
            <a:endParaRPr dirty="0"/>
          </a:p>
        </p:txBody>
      </p:sp>
    </p:spTree>
    <p:extLst>
      <p:ext uri="{BB962C8B-B14F-4D97-AF65-F5344CB8AC3E}">
        <p14:creationId xmlns:p14="http://schemas.microsoft.com/office/powerpoint/2010/main" val="203475849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FBB50-0F00-B74E-DDF1-163406FFAC13}"/>
            </a:ext>
          </a:extLst>
        </p:cNvPr>
        <p:cNvGrpSpPr/>
        <p:nvPr/>
      </p:nvGrpSpPr>
      <p:grpSpPr>
        <a:xfrm>
          <a:off x="0" y="0"/>
          <a:ext cx="0" cy="0"/>
          <a:chOff x="0" y="0"/>
          <a:chExt cx="0" cy="0"/>
        </a:xfrm>
      </p:grpSpPr>
      <p:sp>
        <p:nvSpPr>
          <p:cNvPr id="2" name="Google Shape;101;p1">
            <a:extLst>
              <a:ext uri="{FF2B5EF4-FFF2-40B4-BE49-F238E27FC236}">
                <a16:creationId xmlns:a16="http://schemas.microsoft.com/office/drawing/2014/main" id="{E225F685-FFEB-F261-85FA-89C4BCCA31E7}"/>
              </a:ext>
            </a:extLst>
          </p:cNvPr>
          <p:cNvSpPr/>
          <p:nvPr/>
        </p:nvSpPr>
        <p:spPr>
          <a:xfrm>
            <a:off x="10617958" y="0"/>
            <a:ext cx="1446781" cy="1173707"/>
          </a:xfrm>
          <a:custGeom>
            <a:avLst/>
            <a:gdLst/>
            <a:ahLst/>
            <a:cxnLst/>
            <a:rect l="l" t="t" r="r" b="b"/>
            <a:pathLst>
              <a:path w="1283459" h="963151" extrusionOk="0">
                <a:moveTo>
                  <a:pt x="0" y="0"/>
                </a:moveTo>
                <a:lnTo>
                  <a:pt x="1283459" y="0"/>
                </a:lnTo>
                <a:lnTo>
                  <a:pt x="1283459" y="963151"/>
                </a:lnTo>
                <a:lnTo>
                  <a:pt x="0" y="963151"/>
                </a:lnTo>
                <a:lnTo>
                  <a:pt x="0" y="0"/>
                </a:lnTo>
                <a:close/>
              </a:path>
            </a:pathLst>
          </a:custGeom>
          <a:blipFill rotWithShape="1">
            <a:blip r:embed="rId2">
              <a:alphaModFix amt="94000"/>
            </a:blip>
            <a:stretch>
              <a:fillRect/>
            </a:stretch>
          </a:blipFill>
          <a:ln>
            <a:noFill/>
          </a:ln>
        </p:spPr>
        <p:txBody>
          <a:bodyPr/>
          <a:lstStyle/>
          <a:p>
            <a:endParaRPr lang="en-IN"/>
          </a:p>
        </p:txBody>
      </p:sp>
      <p:sp>
        <p:nvSpPr>
          <p:cNvPr id="6" name="Google Shape;96;p2">
            <a:extLst>
              <a:ext uri="{FF2B5EF4-FFF2-40B4-BE49-F238E27FC236}">
                <a16:creationId xmlns:a16="http://schemas.microsoft.com/office/drawing/2014/main" id="{2A0C1581-0052-FECF-DF76-213D36DB8B5C}"/>
              </a:ext>
            </a:extLst>
          </p:cNvPr>
          <p:cNvSpPr txBox="1">
            <a:spLocks noGrp="1"/>
          </p:cNvSpPr>
          <p:nvPr/>
        </p:nvSpPr>
        <p:spPr>
          <a:xfrm>
            <a:off x="838200" y="523082"/>
            <a:ext cx="10515600" cy="839002"/>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chemeClr val="dk1"/>
              </a:buClr>
              <a:buSzPts val="4400"/>
              <a:buFont typeface="Times New Roman"/>
              <a:buNone/>
            </a:pPr>
            <a:r>
              <a:rPr lang="en-US" sz="3600" b="1" dirty="0">
                <a:latin typeface="Times New Roman"/>
                <a:ea typeface="Times New Roman"/>
                <a:cs typeface="Times New Roman"/>
                <a:sym typeface="Times New Roman"/>
              </a:rPr>
              <a:t>Objective</a:t>
            </a:r>
            <a:endParaRPr sz="3600" b="1" dirty="0">
              <a:latin typeface="Times New Roman"/>
              <a:ea typeface="Times New Roman"/>
              <a:cs typeface="Times New Roman"/>
              <a:sym typeface="Times New Roman"/>
            </a:endParaRPr>
          </a:p>
        </p:txBody>
      </p:sp>
      <p:sp>
        <p:nvSpPr>
          <p:cNvPr id="7" name="Google Shape;97;p2">
            <a:extLst>
              <a:ext uri="{FF2B5EF4-FFF2-40B4-BE49-F238E27FC236}">
                <a16:creationId xmlns:a16="http://schemas.microsoft.com/office/drawing/2014/main" id="{3481404C-D365-9403-3E17-DC4921731661}"/>
              </a:ext>
            </a:extLst>
          </p:cNvPr>
          <p:cNvSpPr txBox="1">
            <a:spLocks noGrp="1"/>
          </p:cNvSpPr>
          <p:nvPr/>
        </p:nvSpPr>
        <p:spPr>
          <a:xfrm>
            <a:off x="825748" y="1168385"/>
            <a:ext cx="10515600" cy="435133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635000" lvl="0" indent="-457200" algn="just" rtl="0">
              <a:lnSpc>
                <a:spcPct val="150000"/>
              </a:lnSpc>
              <a:spcBef>
                <a:spcPts val="1000"/>
              </a:spcBef>
              <a:spcAft>
                <a:spcPts val="0"/>
              </a:spcAft>
              <a:buClr>
                <a:schemeClr val="dk1"/>
              </a:buClr>
              <a:buSzPts val="2800"/>
              <a:buFont typeface="Wingdings" panose="05000000000000000000" pitchFamily="2" charset="2"/>
              <a:buChar char="v"/>
            </a:pPr>
            <a:r>
              <a:rPr lang="en-US" sz="2000" dirty="0"/>
              <a:t>The primary objective of this study is to develop and compare machine learning models for predicting diabetes risk using patient heath data.</a:t>
            </a:r>
          </a:p>
          <a:p>
            <a:pPr marL="635000" lvl="0" indent="-457200" algn="just" rtl="0">
              <a:lnSpc>
                <a:spcPct val="150000"/>
              </a:lnSpc>
              <a:spcBef>
                <a:spcPts val="1000"/>
              </a:spcBef>
              <a:spcAft>
                <a:spcPts val="0"/>
              </a:spcAft>
              <a:buClr>
                <a:schemeClr val="dk1"/>
              </a:buClr>
              <a:buSzPts val="2800"/>
              <a:buFont typeface="Wingdings" panose="05000000000000000000" pitchFamily="2" charset="2"/>
              <a:buChar char="v"/>
            </a:pPr>
            <a:r>
              <a:rPr lang="en-US" sz="2000" dirty="0"/>
              <a:t>We aim to implement four algorithms: </a:t>
            </a:r>
            <a:r>
              <a:rPr lang="en-US" sz="2000" b="1" dirty="0"/>
              <a:t>Naïve Bayes, K-Nearest Neighbors (KNN), Decision tree, and logistic regression</a:t>
            </a:r>
            <a:r>
              <a:rPr lang="en-US" sz="2000" dirty="0"/>
              <a:t> and evaluate their performance in terms of </a:t>
            </a:r>
            <a:r>
              <a:rPr lang="en-US" sz="2000" b="1" dirty="0"/>
              <a:t>Accuracy, Precision, Recall and F1 – Score</a:t>
            </a:r>
            <a:r>
              <a:rPr lang="en-US" sz="2000" dirty="0"/>
              <a:t>.</a:t>
            </a:r>
          </a:p>
          <a:p>
            <a:pPr marL="635000" indent="-457200" algn="just">
              <a:lnSpc>
                <a:spcPct val="150000"/>
              </a:lnSpc>
              <a:buSzPts val="2800"/>
              <a:buFont typeface="Wingdings" panose="05000000000000000000" pitchFamily="2" charset="2"/>
              <a:buChar char="v"/>
            </a:pPr>
            <a:r>
              <a:rPr lang="en-US" sz="2000" dirty="0"/>
              <a:t>This project focuses on predicting diabetes risk using machine learning techniques to support early diagnosis and improve healthcare outcomes. </a:t>
            </a:r>
            <a:endParaRPr lang="en-US" dirty="0"/>
          </a:p>
          <a:p>
            <a:pPr marL="635000" lvl="0" indent="-457200" algn="just" rtl="0">
              <a:lnSpc>
                <a:spcPct val="150000"/>
              </a:lnSpc>
              <a:spcBef>
                <a:spcPts val="1000"/>
              </a:spcBef>
              <a:spcAft>
                <a:spcPts val="0"/>
              </a:spcAft>
              <a:buClr>
                <a:schemeClr val="dk1"/>
              </a:buClr>
              <a:buSzPts val="2800"/>
              <a:buFont typeface="Wingdings" panose="05000000000000000000" pitchFamily="2" charset="2"/>
              <a:buChar char="v"/>
            </a:pPr>
            <a:endParaRPr lang="en-US" sz="2000" dirty="0"/>
          </a:p>
          <a:p>
            <a:pPr marL="228600" lvl="0" indent="-50800" algn="l" rtl="0">
              <a:lnSpc>
                <a:spcPct val="90000"/>
              </a:lnSpc>
              <a:spcBef>
                <a:spcPts val="1000"/>
              </a:spcBef>
              <a:spcAft>
                <a:spcPts val="0"/>
              </a:spcAft>
              <a:buClr>
                <a:schemeClr val="dk1"/>
              </a:buClr>
              <a:buSzPts val="2800"/>
              <a:buNone/>
            </a:pPr>
            <a:endParaRPr dirty="0"/>
          </a:p>
          <a:p>
            <a:pPr marL="0" lvl="0" indent="0" algn="l" rtl="0">
              <a:lnSpc>
                <a:spcPct val="90000"/>
              </a:lnSpc>
              <a:spcBef>
                <a:spcPts val="1000"/>
              </a:spcBef>
              <a:spcAft>
                <a:spcPts val="0"/>
              </a:spcAft>
              <a:buClr>
                <a:schemeClr val="dk1"/>
              </a:buClr>
              <a:buSzPts val="2800"/>
              <a:buNone/>
            </a:pPr>
            <a:endParaRPr dirty="0"/>
          </a:p>
        </p:txBody>
      </p:sp>
    </p:spTree>
    <p:extLst>
      <p:ext uri="{BB962C8B-B14F-4D97-AF65-F5344CB8AC3E}">
        <p14:creationId xmlns:p14="http://schemas.microsoft.com/office/powerpoint/2010/main" val="232140263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BF2E2-7D19-611A-00B5-CE397BEC5183}"/>
            </a:ext>
          </a:extLst>
        </p:cNvPr>
        <p:cNvGrpSpPr/>
        <p:nvPr/>
      </p:nvGrpSpPr>
      <p:grpSpPr>
        <a:xfrm>
          <a:off x="0" y="0"/>
          <a:ext cx="0" cy="0"/>
          <a:chOff x="0" y="0"/>
          <a:chExt cx="0" cy="0"/>
        </a:xfrm>
      </p:grpSpPr>
      <p:sp>
        <p:nvSpPr>
          <p:cNvPr id="2" name="Google Shape;101;p1">
            <a:extLst>
              <a:ext uri="{FF2B5EF4-FFF2-40B4-BE49-F238E27FC236}">
                <a16:creationId xmlns:a16="http://schemas.microsoft.com/office/drawing/2014/main" id="{41CFF331-143E-7757-6FB3-895C879AA7B2}"/>
              </a:ext>
            </a:extLst>
          </p:cNvPr>
          <p:cNvSpPr/>
          <p:nvPr/>
        </p:nvSpPr>
        <p:spPr>
          <a:xfrm>
            <a:off x="10617958" y="0"/>
            <a:ext cx="1446781" cy="1173707"/>
          </a:xfrm>
          <a:custGeom>
            <a:avLst/>
            <a:gdLst/>
            <a:ahLst/>
            <a:cxnLst/>
            <a:rect l="l" t="t" r="r" b="b"/>
            <a:pathLst>
              <a:path w="1283459" h="963151" extrusionOk="0">
                <a:moveTo>
                  <a:pt x="0" y="0"/>
                </a:moveTo>
                <a:lnTo>
                  <a:pt x="1283459" y="0"/>
                </a:lnTo>
                <a:lnTo>
                  <a:pt x="1283459" y="963151"/>
                </a:lnTo>
                <a:lnTo>
                  <a:pt x="0" y="963151"/>
                </a:lnTo>
                <a:lnTo>
                  <a:pt x="0" y="0"/>
                </a:lnTo>
                <a:close/>
              </a:path>
            </a:pathLst>
          </a:custGeom>
          <a:blipFill rotWithShape="1">
            <a:blip r:embed="rId2">
              <a:alphaModFix amt="94000"/>
            </a:blip>
            <a:stretch>
              <a:fillRect/>
            </a:stretch>
          </a:blipFill>
          <a:ln>
            <a:noFill/>
          </a:ln>
        </p:spPr>
        <p:txBody>
          <a:bodyPr/>
          <a:lstStyle/>
          <a:p>
            <a:endParaRPr lang="en-IN"/>
          </a:p>
        </p:txBody>
      </p:sp>
      <p:sp>
        <p:nvSpPr>
          <p:cNvPr id="6" name="Google Shape;96;p2">
            <a:extLst>
              <a:ext uri="{FF2B5EF4-FFF2-40B4-BE49-F238E27FC236}">
                <a16:creationId xmlns:a16="http://schemas.microsoft.com/office/drawing/2014/main" id="{C026006E-E9A5-E5B4-42ED-107BC749A20C}"/>
              </a:ext>
            </a:extLst>
          </p:cNvPr>
          <p:cNvSpPr txBox="1">
            <a:spLocks noGrp="1"/>
          </p:cNvSpPr>
          <p:nvPr/>
        </p:nvSpPr>
        <p:spPr>
          <a:xfrm>
            <a:off x="825748" y="329383"/>
            <a:ext cx="9505426" cy="839002"/>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chemeClr val="dk1"/>
              </a:buClr>
              <a:buSzPts val="4400"/>
              <a:buFont typeface="Times New Roman"/>
              <a:buNone/>
            </a:pPr>
            <a:r>
              <a:rPr lang="en-US" sz="3600" b="1" dirty="0">
                <a:latin typeface="Times New Roman"/>
                <a:ea typeface="Times New Roman"/>
                <a:cs typeface="Times New Roman"/>
                <a:sym typeface="Times New Roman"/>
              </a:rPr>
              <a:t>Drawback of Existing System</a:t>
            </a:r>
            <a:endParaRPr sz="3600" b="1" dirty="0">
              <a:latin typeface="Times New Roman"/>
              <a:ea typeface="Times New Roman"/>
              <a:cs typeface="Times New Roman"/>
              <a:sym typeface="Times New Roman"/>
            </a:endParaRPr>
          </a:p>
        </p:txBody>
      </p:sp>
      <p:sp>
        <p:nvSpPr>
          <p:cNvPr id="7" name="Google Shape;97;p2">
            <a:extLst>
              <a:ext uri="{FF2B5EF4-FFF2-40B4-BE49-F238E27FC236}">
                <a16:creationId xmlns:a16="http://schemas.microsoft.com/office/drawing/2014/main" id="{245274A8-AABB-50D4-0F04-9F4F7B79D9DD}"/>
              </a:ext>
            </a:extLst>
          </p:cNvPr>
          <p:cNvSpPr txBox="1">
            <a:spLocks noGrp="1"/>
          </p:cNvSpPr>
          <p:nvPr/>
        </p:nvSpPr>
        <p:spPr>
          <a:xfrm>
            <a:off x="825748" y="1168385"/>
            <a:ext cx="10515600" cy="4351338"/>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77800" lvl="0" indent="0" algn="just">
              <a:lnSpc>
                <a:spcPct val="150000"/>
              </a:lnSpc>
              <a:buSzPts val="2800"/>
              <a:buNone/>
            </a:pPr>
            <a:r>
              <a:rPr lang="en-US" sz="2000" dirty="0">
                <a:latin typeface="+mn-lt"/>
              </a:rPr>
              <a:t>Diabetes prediction in many healthcare settings relies on traditional diagnostic methods, such as blood sugar tests and manual assessment of patient history. While these methods are essential, they often depend on periodic testing and may not always catch early warning signs of diabetes, especially in high-risk individuals without obvious symptoms.</a:t>
            </a:r>
          </a:p>
          <a:p>
            <a:pPr marL="177800" lvl="0" indent="0" algn="just">
              <a:lnSpc>
                <a:spcPct val="150000"/>
              </a:lnSpc>
              <a:buSzPts val="2800"/>
              <a:buNone/>
            </a:pPr>
            <a:r>
              <a:rPr lang="en-US" sz="2000" dirty="0">
                <a:latin typeface="+mn-lt"/>
              </a:rPr>
              <a:t>In some systems, basic statistical models are used for risk assessment, but they may not fully capture complex relationships between multiple health factors. Additionally, most traditional screening processes are time-consuming, require significant human effort, and may miss subtle patterns hidden in large datasets</a:t>
            </a:r>
          </a:p>
          <a:p>
            <a:pPr marL="177800" lvl="0" indent="0" algn="just">
              <a:lnSpc>
                <a:spcPct val="150000"/>
              </a:lnSpc>
              <a:buSzPts val="2800"/>
              <a:buNone/>
            </a:pPr>
            <a:r>
              <a:rPr lang="en-US" sz="2000" dirty="0">
                <a:latin typeface="+mn-lt"/>
              </a:rPr>
              <a:t>This project focuses on predicting diabetes risk using machine learning techniques to support early diagnosis and improve healthcare outcomes. </a:t>
            </a:r>
            <a:endParaRPr dirty="0">
              <a:latin typeface="+mn-lt"/>
            </a:endParaRPr>
          </a:p>
        </p:txBody>
      </p:sp>
    </p:spTree>
    <p:extLst>
      <p:ext uri="{BB962C8B-B14F-4D97-AF65-F5344CB8AC3E}">
        <p14:creationId xmlns:p14="http://schemas.microsoft.com/office/powerpoint/2010/main" val="14218983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ABF62-E3CA-CA52-27C0-9BAA6B63117C}"/>
            </a:ext>
          </a:extLst>
        </p:cNvPr>
        <p:cNvGrpSpPr/>
        <p:nvPr/>
      </p:nvGrpSpPr>
      <p:grpSpPr>
        <a:xfrm>
          <a:off x="0" y="0"/>
          <a:ext cx="0" cy="0"/>
          <a:chOff x="0" y="0"/>
          <a:chExt cx="0" cy="0"/>
        </a:xfrm>
      </p:grpSpPr>
      <p:sp>
        <p:nvSpPr>
          <p:cNvPr id="2" name="Google Shape;101;p1">
            <a:extLst>
              <a:ext uri="{FF2B5EF4-FFF2-40B4-BE49-F238E27FC236}">
                <a16:creationId xmlns:a16="http://schemas.microsoft.com/office/drawing/2014/main" id="{32904A69-CC4E-D171-FBD9-91F6F3C6779D}"/>
              </a:ext>
            </a:extLst>
          </p:cNvPr>
          <p:cNvSpPr/>
          <p:nvPr/>
        </p:nvSpPr>
        <p:spPr>
          <a:xfrm>
            <a:off x="10617958" y="0"/>
            <a:ext cx="1446781" cy="1173707"/>
          </a:xfrm>
          <a:custGeom>
            <a:avLst/>
            <a:gdLst/>
            <a:ahLst/>
            <a:cxnLst/>
            <a:rect l="l" t="t" r="r" b="b"/>
            <a:pathLst>
              <a:path w="1283459" h="963151" extrusionOk="0">
                <a:moveTo>
                  <a:pt x="0" y="0"/>
                </a:moveTo>
                <a:lnTo>
                  <a:pt x="1283459" y="0"/>
                </a:lnTo>
                <a:lnTo>
                  <a:pt x="1283459" y="963151"/>
                </a:lnTo>
                <a:lnTo>
                  <a:pt x="0" y="963151"/>
                </a:lnTo>
                <a:lnTo>
                  <a:pt x="0" y="0"/>
                </a:lnTo>
                <a:close/>
              </a:path>
            </a:pathLst>
          </a:custGeom>
          <a:blipFill rotWithShape="1">
            <a:blip r:embed="rId2">
              <a:alphaModFix amt="94000"/>
            </a:blip>
            <a:stretch>
              <a:fillRect/>
            </a:stretch>
          </a:blipFill>
          <a:ln>
            <a:noFill/>
          </a:ln>
        </p:spPr>
        <p:txBody>
          <a:bodyPr/>
          <a:lstStyle/>
          <a:p>
            <a:endParaRPr lang="en-IN"/>
          </a:p>
        </p:txBody>
      </p:sp>
      <p:sp>
        <p:nvSpPr>
          <p:cNvPr id="6" name="Google Shape;96;p2">
            <a:extLst>
              <a:ext uri="{FF2B5EF4-FFF2-40B4-BE49-F238E27FC236}">
                <a16:creationId xmlns:a16="http://schemas.microsoft.com/office/drawing/2014/main" id="{F9CE02B9-25D8-E562-D8B6-DD65C4A734A7}"/>
              </a:ext>
            </a:extLst>
          </p:cNvPr>
          <p:cNvSpPr txBox="1">
            <a:spLocks noGrp="1"/>
          </p:cNvSpPr>
          <p:nvPr/>
        </p:nvSpPr>
        <p:spPr>
          <a:xfrm>
            <a:off x="825748" y="497914"/>
            <a:ext cx="10515600" cy="81076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chemeClr val="dk1"/>
              </a:buClr>
              <a:buSzPts val="4400"/>
              <a:buFont typeface="Times New Roman"/>
              <a:buNone/>
            </a:pPr>
            <a:r>
              <a:rPr lang="en-US" sz="3600" b="1" dirty="0">
                <a:latin typeface="Times New Roman"/>
                <a:ea typeface="Times New Roman"/>
                <a:cs typeface="Times New Roman"/>
                <a:sym typeface="Times New Roman"/>
              </a:rPr>
              <a:t>Literature Review</a:t>
            </a:r>
            <a:endParaRPr sz="3600" b="1" dirty="0">
              <a:latin typeface="Times New Roman"/>
              <a:ea typeface="Times New Roman"/>
              <a:cs typeface="Times New Roman"/>
              <a:sym typeface="Times New Roman"/>
            </a:endParaRPr>
          </a:p>
        </p:txBody>
      </p:sp>
      <p:sp>
        <p:nvSpPr>
          <p:cNvPr id="7" name="Google Shape;97;p2">
            <a:extLst>
              <a:ext uri="{FF2B5EF4-FFF2-40B4-BE49-F238E27FC236}">
                <a16:creationId xmlns:a16="http://schemas.microsoft.com/office/drawing/2014/main" id="{993BF111-050E-C9B4-6BDA-4FFB826BB1DD}"/>
              </a:ext>
            </a:extLst>
          </p:cNvPr>
          <p:cNvSpPr txBox="1">
            <a:spLocks noGrp="1"/>
          </p:cNvSpPr>
          <p:nvPr/>
        </p:nvSpPr>
        <p:spPr>
          <a:xfrm>
            <a:off x="720755" y="1073039"/>
            <a:ext cx="10515600" cy="509286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20700" algn="just">
              <a:lnSpc>
                <a:spcPct val="170000"/>
              </a:lnSpc>
              <a:buSzPts val="2800"/>
              <a:buFont typeface="Wingdings" panose="05000000000000000000" pitchFamily="2" charset="2"/>
              <a:buChar char="v"/>
            </a:pPr>
            <a:r>
              <a:rPr lang="en-US" sz="2000" dirty="0"/>
              <a:t>In recent years due to their potential to improve early diagnosis and patient outcomes for Diabetes. This review summarizes key studies and findings in the field, focusing on the application of Naive Bayes, K-Nearest Neighbors (KNN), Decision Tree, and Logistic Regression algorithms.</a:t>
            </a:r>
          </a:p>
          <a:p>
            <a:pPr marL="520700" lvl="0" algn="just" rtl="0">
              <a:lnSpc>
                <a:spcPct val="170000"/>
              </a:lnSpc>
              <a:spcBef>
                <a:spcPts val="1000"/>
              </a:spcBef>
              <a:spcAft>
                <a:spcPts val="0"/>
              </a:spcAft>
              <a:buClr>
                <a:schemeClr val="dk1"/>
              </a:buClr>
              <a:buSzPts val="2800"/>
              <a:buFont typeface="Courier New" panose="02070309020205020404" pitchFamily="49" charset="0"/>
              <a:buChar char="o"/>
            </a:pPr>
            <a:r>
              <a:rPr lang="en-US" sz="2000" b="1" dirty="0"/>
              <a:t>Sisodia and Sisodia (2018) </a:t>
            </a:r>
            <a:r>
              <a:rPr lang="en-US" sz="2000" dirty="0"/>
              <a:t>compared </a:t>
            </a:r>
            <a:r>
              <a:rPr lang="en-US" sz="2000" b="1" u="sng" dirty="0"/>
              <a:t>Naive Bayes, Decision Tree, and SVM </a:t>
            </a:r>
            <a:r>
              <a:rPr lang="en-US" sz="2000" dirty="0"/>
              <a:t>for diabetes prediction, finding that Naive Bayes outperformed other algorithms with an </a:t>
            </a:r>
            <a:r>
              <a:rPr lang="en-US" sz="2000" b="1" dirty="0"/>
              <a:t>accuracy </a:t>
            </a:r>
            <a:r>
              <a:rPr lang="en-US" sz="2000" dirty="0"/>
              <a:t>of</a:t>
            </a:r>
            <a:r>
              <a:rPr lang="en-US" sz="2000" b="1" dirty="0"/>
              <a:t> 76.30%. </a:t>
            </a:r>
            <a:r>
              <a:rPr lang="en-US" sz="2000" dirty="0"/>
              <a:t>Their study highlighted the efficiency of Naive Bayes in handling the complexities of medical data.</a:t>
            </a:r>
          </a:p>
        </p:txBody>
      </p:sp>
    </p:spTree>
    <p:extLst>
      <p:ext uri="{BB962C8B-B14F-4D97-AF65-F5344CB8AC3E}">
        <p14:creationId xmlns:p14="http://schemas.microsoft.com/office/powerpoint/2010/main" val="1403111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27909-19BC-D9DF-191F-BAAAD94026CD}"/>
            </a:ext>
          </a:extLst>
        </p:cNvPr>
        <p:cNvGrpSpPr/>
        <p:nvPr/>
      </p:nvGrpSpPr>
      <p:grpSpPr>
        <a:xfrm>
          <a:off x="0" y="0"/>
          <a:ext cx="0" cy="0"/>
          <a:chOff x="0" y="0"/>
          <a:chExt cx="0" cy="0"/>
        </a:xfrm>
      </p:grpSpPr>
      <p:sp>
        <p:nvSpPr>
          <p:cNvPr id="2" name="Google Shape;101;p1">
            <a:extLst>
              <a:ext uri="{FF2B5EF4-FFF2-40B4-BE49-F238E27FC236}">
                <a16:creationId xmlns:a16="http://schemas.microsoft.com/office/drawing/2014/main" id="{FD5A3832-A663-42A8-2324-C725E809CE30}"/>
              </a:ext>
            </a:extLst>
          </p:cNvPr>
          <p:cNvSpPr/>
          <p:nvPr/>
        </p:nvSpPr>
        <p:spPr>
          <a:xfrm>
            <a:off x="10617958" y="0"/>
            <a:ext cx="1446781" cy="1173707"/>
          </a:xfrm>
          <a:custGeom>
            <a:avLst/>
            <a:gdLst/>
            <a:ahLst/>
            <a:cxnLst/>
            <a:rect l="l" t="t" r="r" b="b"/>
            <a:pathLst>
              <a:path w="1283459" h="963151" extrusionOk="0">
                <a:moveTo>
                  <a:pt x="0" y="0"/>
                </a:moveTo>
                <a:lnTo>
                  <a:pt x="1283459" y="0"/>
                </a:lnTo>
                <a:lnTo>
                  <a:pt x="1283459" y="963151"/>
                </a:lnTo>
                <a:lnTo>
                  <a:pt x="0" y="963151"/>
                </a:lnTo>
                <a:lnTo>
                  <a:pt x="0" y="0"/>
                </a:lnTo>
                <a:close/>
              </a:path>
            </a:pathLst>
          </a:custGeom>
          <a:blipFill rotWithShape="1">
            <a:blip r:embed="rId2">
              <a:alphaModFix amt="94000"/>
            </a:blip>
            <a:stretch>
              <a:fillRect/>
            </a:stretch>
          </a:blipFill>
          <a:ln>
            <a:noFill/>
          </a:ln>
        </p:spPr>
        <p:txBody>
          <a:bodyPr/>
          <a:lstStyle/>
          <a:p>
            <a:endParaRPr lang="en-IN"/>
          </a:p>
        </p:txBody>
      </p:sp>
      <p:sp>
        <p:nvSpPr>
          <p:cNvPr id="6" name="Google Shape;96;p2">
            <a:extLst>
              <a:ext uri="{FF2B5EF4-FFF2-40B4-BE49-F238E27FC236}">
                <a16:creationId xmlns:a16="http://schemas.microsoft.com/office/drawing/2014/main" id="{D0A5443E-300F-4440-50D6-C5D6650A90B3}"/>
              </a:ext>
            </a:extLst>
          </p:cNvPr>
          <p:cNvSpPr txBox="1">
            <a:spLocks noGrp="1"/>
          </p:cNvSpPr>
          <p:nvPr/>
        </p:nvSpPr>
        <p:spPr>
          <a:xfrm>
            <a:off x="825748" y="301628"/>
            <a:ext cx="10515600" cy="87208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chemeClr val="dk1"/>
              </a:buClr>
              <a:buSzPts val="4400"/>
              <a:buFont typeface="Times New Roman"/>
              <a:buNone/>
            </a:pPr>
            <a:r>
              <a:rPr lang="en-US" sz="3600" b="1" dirty="0">
                <a:latin typeface="Times New Roman"/>
                <a:ea typeface="Times New Roman"/>
                <a:cs typeface="Times New Roman"/>
                <a:sym typeface="Times New Roman"/>
              </a:rPr>
              <a:t>Literature Review</a:t>
            </a:r>
            <a:endParaRPr sz="3600" b="1" dirty="0">
              <a:latin typeface="Times New Roman"/>
              <a:ea typeface="Times New Roman"/>
              <a:cs typeface="Times New Roman"/>
              <a:sym typeface="Times New Roman"/>
            </a:endParaRPr>
          </a:p>
        </p:txBody>
      </p:sp>
      <p:sp>
        <p:nvSpPr>
          <p:cNvPr id="7" name="Google Shape;97;p2">
            <a:extLst>
              <a:ext uri="{FF2B5EF4-FFF2-40B4-BE49-F238E27FC236}">
                <a16:creationId xmlns:a16="http://schemas.microsoft.com/office/drawing/2014/main" id="{88990C2E-7D09-FCC5-11F7-7700F3962ADB}"/>
              </a:ext>
            </a:extLst>
          </p:cNvPr>
          <p:cNvSpPr txBox="1">
            <a:spLocks noGrp="1"/>
          </p:cNvSpPr>
          <p:nvPr/>
        </p:nvSpPr>
        <p:spPr>
          <a:xfrm>
            <a:off x="636864" y="956345"/>
            <a:ext cx="10729388" cy="567934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20700">
              <a:lnSpc>
                <a:spcPct val="170000"/>
              </a:lnSpc>
              <a:buSzPts val="2800"/>
              <a:buFont typeface="Courier New" panose="02070309020205020404" pitchFamily="49" charset="0"/>
              <a:buChar char="o"/>
            </a:pPr>
            <a:r>
              <a:rPr lang="en-US" sz="2000" b="1" dirty="0"/>
              <a:t>Zou et al. (2018) </a:t>
            </a:r>
            <a:r>
              <a:rPr lang="en-US" sz="2000" dirty="0"/>
              <a:t>utilized </a:t>
            </a:r>
            <a:r>
              <a:rPr lang="en-US" sz="2000" b="1" u="sng" dirty="0"/>
              <a:t>KNN</a:t>
            </a:r>
            <a:r>
              <a:rPr lang="en-US" sz="2000" dirty="0"/>
              <a:t> for diabetes prediction, achieving an </a:t>
            </a:r>
            <a:r>
              <a:rPr lang="en-US" sz="2000" b="1" dirty="0"/>
              <a:t>accuracy </a:t>
            </a:r>
            <a:r>
              <a:rPr lang="en-US" sz="2000" dirty="0"/>
              <a:t>of</a:t>
            </a:r>
            <a:r>
              <a:rPr lang="en-US" sz="2000" b="1" dirty="0"/>
              <a:t> 93.5% </a:t>
            </a:r>
            <a:r>
              <a:rPr lang="en-US" sz="2000" dirty="0"/>
              <a:t>in their best model. They emphasized the importance of feature selection and data preprocessing in improving model performance.</a:t>
            </a:r>
          </a:p>
          <a:p>
            <a:pPr marL="520700">
              <a:lnSpc>
                <a:spcPct val="170000"/>
              </a:lnSpc>
              <a:buSzPts val="2800"/>
              <a:buFont typeface="Courier New" panose="02070309020205020404" pitchFamily="49" charset="0"/>
              <a:buChar char="o"/>
            </a:pPr>
            <a:r>
              <a:rPr lang="en-US" sz="2000" b="1" dirty="0"/>
              <a:t>Perveen et al. (2016) </a:t>
            </a:r>
            <a:r>
              <a:rPr lang="en-US" sz="2000" dirty="0"/>
              <a:t>explored the use of </a:t>
            </a:r>
            <a:r>
              <a:rPr lang="en-US" sz="2000" b="1" u="sng" dirty="0"/>
              <a:t>Decision Trees</a:t>
            </a:r>
            <a:r>
              <a:rPr lang="en-US" sz="2000" dirty="0"/>
              <a:t> for diabetes prediction, achieving an </a:t>
            </a:r>
            <a:r>
              <a:rPr lang="en-US" sz="2000" b="1" dirty="0"/>
              <a:t>accuracy </a:t>
            </a:r>
            <a:r>
              <a:rPr lang="en-US" sz="2000" dirty="0"/>
              <a:t>of</a:t>
            </a:r>
            <a:r>
              <a:rPr lang="en-US" sz="2000" b="1" dirty="0"/>
              <a:t> 72.3%</a:t>
            </a:r>
            <a:r>
              <a:rPr lang="en-US" sz="2000" dirty="0"/>
              <a:t>. Their study highlighted the interpretability of Decision Tree models, providing insights into the most critical factors for diabetes risk.</a:t>
            </a:r>
          </a:p>
          <a:p>
            <a:pPr marL="520700">
              <a:lnSpc>
                <a:spcPct val="170000"/>
              </a:lnSpc>
              <a:buSzPts val="2800"/>
              <a:buFont typeface="Courier New" panose="02070309020205020404" pitchFamily="49" charset="0"/>
              <a:buChar char="o"/>
            </a:pPr>
            <a:r>
              <a:rPr lang="en-US" sz="2000" b="1" dirty="0"/>
              <a:t>Kandhasamy and Balamurali (2015) </a:t>
            </a:r>
            <a:r>
              <a:rPr lang="en-US" sz="2000" dirty="0"/>
              <a:t>compared </a:t>
            </a:r>
            <a:r>
              <a:rPr lang="en-US" sz="2000" b="1" u="sng" dirty="0"/>
              <a:t>Logistic Regression, Decision Tree, and Random Forest algorithms</a:t>
            </a:r>
            <a:r>
              <a:rPr lang="en-US" sz="2000" dirty="0"/>
              <a:t> for diabetes prediction. They found that Logistic Regression performed well, with an </a:t>
            </a:r>
            <a:r>
              <a:rPr lang="en-US" sz="2000" b="1" dirty="0"/>
              <a:t>accuracy </a:t>
            </a:r>
            <a:r>
              <a:rPr lang="en-US" sz="2000" dirty="0"/>
              <a:t>of</a:t>
            </a:r>
            <a:r>
              <a:rPr lang="en-US" sz="2000" b="1" dirty="0"/>
              <a:t> 75.32%, </a:t>
            </a:r>
            <a:r>
              <a:rPr lang="en-US" sz="2000" dirty="0"/>
              <a:t>and noted its ability to provide probability estimates for risk assessment.</a:t>
            </a:r>
          </a:p>
        </p:txBody>
      </p:sp>
    </p:spTree>
    <p:extLst>
      <p:ext uri="{BB962C8B-B14F-4D97-AF65-F5344CB8AC3E}">
        <p14:creationId xmlns:p14="http://schemas.microsoft.com/office/powerpoint/2010/main" val="5251014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E8817-867D-4CBE-20D1-E23469555F25}"/>
            </a:ext>
          </a:extLst>
        </p:cNvPr>
        <p:cNvGrpSpPr/>
        <p:nvPr/>
      </p:nvGrpSpPr>
      <p:grpSpPr>
        <a:xfrm>
          <a:off x="0" y="0"/>
          <a:ext cx="0" cy="0"/>
          <a:chOff x="0" y="0"/>
          <a:chExt cx="0" cy="0"/>
        </a:xfrm>
      </p:grpSpPr>
      <p:sp>
        <p:nvSpPr>
          <p:cNvPr id="2" name="Google Shape;101;p1">
            <a:extLst>
              <a:ext uri="{FF2B5EF4-FFF2-40B4-BE49-F238E27FC236}">
                <a16:creationId xmlns:a16="http://schemas.microsoft.com/office/drawing/2014/main" id="{2EDCCFF7-177E-6886-AFEE-F3C569761460}"/>
              </a:ext>
            </a:extLst>
          </p:cNvPr>
          <p:cNvSpPr/>
          <p:nvPr/>
        </p:nvSpPr>
        <p:spPr>
          <a:xfrm>
            <a:off x="10617958" y="0"/>
            <a:ext cx="1446781" cy="1173707"/>
          </a:xfrm>
          <a:custGeom>
            <a:avLst/>
            <a:gdLst/>
            <a:ahLst/>
            <a:cxnLst/>
            <a:rect l="l" t="t" r="r" b="b"/>
            <a:pathLst>
              <a:path w="1283459" h="963151" extrusionOk="0">
                <a:moveTo>
                  <a:pt x="0" y="0"/>
                </a:moveTo>
                <a:lnTo>
                  <a:pt x="1283459" y="0"/>
                </a:lnTo>
                <a:lnTo>
                  <a:pt x="1283459" y="963151"/>
                </a:lnTo>
                <a:lnTo>
                  <a:pt x="0" y="963151"/>
                </a:lnTo>
                <a:lnTo>
                  <a:pt x="0" y="0"/>
                </a:lnTo>
                <a:close/>
              </a:path>
            </a:pathLst>
          </a:custGeom>
          <a:blipFill rotWithShape="1">
            <a:blip r:embed="rId2">
              <a:alphaModFix amt="94000"/>
            </a:blip>
            <a:stretch>
              <a:fillRect/>
            </a:stretch>
          </a:blipFill>
          <a:ln>
            <a:noFill/>
          </a:ln>
        </p:spPr>
        <p:txBody>
          <a:bodyPr/>
          <a:lstStyle/>
          <a:p>
            <a:endParaRPr lang="en-IN"/>
          </a:p>
        </p:txBody>
      </p:sp>
      <p:sp>
        <p:nvSpPr>
          <p:cNvPr id="6" name="Google Shape;96;p2">
            <a:extLst>
              <a:ext uri="{FF2B5EF4-FFF2-40B4-BE49-F238E27FC236}">
                <a16:creationId xmlns:a16="http://schemas.microsoft.com/office/drawing/2014/main" id="{8560FE54-7446-C5BA-C507-72EF74869B19}"/>
              </a:ext>
            </a:extLst>
          </p:cNvPr>
          <p:cNvSpPr txBox="1">
            <a:spLocks noGrp="1"/>
          </p:cNvSpPr>
          <p:nvPr/>
        </p:nvSpPr>
        <p:spPr>
          <a:xfrm>
            <a:off x="1037583" y="115104"/>
            <a:ext cx="3580209" cy="77290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chemeClr val="dk1"/>
              </a:buClr>
              <a:buSzPts val="4400"/>
              <a:buFont typeface="Times New Roman"/>
              <a:buNone/>
            </a:pPr>
            <a:r>
              <a:rPr lang="en-US" sz="3600" b="1" dirty="0">
                <a:latin typeface="Times New Roman"/>
                <a:ea typeface="Times New Roman"/>
                <a:cs typeface="Times New Roman"/>
                <a:sym typeface="Times New Roman"/>
              </a:rPr>
              <a:t>Methodology</a:t>
            </a:r>
            <a:endParaRPr sz="3600" b="1" dirty="0">
              <a:latin typeface="Times New Roman"/>
              <a:ea typeface="Times New Roman"/>
              <a:cs typeface="Times New Roman"/>
              <a:sym typeface="Times New Roman"/>
            </a:endParaRPr>
          </a:p>
        </p:txBody>
      </p:sp>
      <p:sp>
        <p:nvSpPr>
          <p:cNvPr id="44" name="Text 1">
            <a:extLst>
              <a:ext uri="{FF2B5EF4-FFF2-40B4-BE49-F238E27FC236}">
                <a16:creationId xmlns:a16="http://schemas.microsoft.com/office/drawing/2014/main" id="{86C2B448-B212-D1D8-D2CF-9D17AFA678BB}"/>
              </a:ext>
            </a:extLst>
          </p:cNvPr>
          <p:cNvSpPr/>
          <p:nvPr/>
        </p:nvSpPr>
        <p:spPr>
          <a:xfrm>
            <a:off x="2870738" y="2626711"/>
            <a:ext cx="3494110" cy="465160"/>
          </a:xfrm>
          <a:prstGeom prst="rect">
            <a:avLst/>
          </a:prstGeom>
          <a:noFill/>
          <a:ln/>
        </p:spPr>
        <p:txBody>
          <a:bodyPr wrap="none" lIns="0" tIns="0" rIns="0" bIns="0" rtlCol="0" anchor="t"/>
          <a:lstStyle/>
          <a:p>
            <a:pPr marL="0" indent="0" algn="l">
              <a:lnSpc>
                <a:spcPts val="2900"/>
              </a:lnSpc>
              <a:buNone/>
            </a:pPr>
            <a:r>
              <a:rPr lang="en-US" sz="2000" dirty="0"/>
              <a:t>Feature Extraction</a:t>
            </a:r>
          </a:p>
        </p:txBody>
      </p:sp>
      <p:grpSp>
        <p:nvGrpSpPr>
          <p:cNvPr id="47" name="Group 46">
            <a:extLst>
              <a:ext uri="{FF2B5EF4-FFF2-40B4-BE49-F238E27FC236}">
                <a16:creationId xmlns:a16="http://schemas.microsoft.com/office/drawing/2014/main" id="{02745840-D80F-19F1-1E07-B2AC312B0E3F}"/>
              </a:ext>
            </a:extLst>
          </p:cNvPr>
          <p:cNvGrpSpPr/>
          <p:nvPr/>
        </p:nvGrpSpPr>
        <p:grpSpPr>
          <a:xfrm>
            <a:off x="1170743" y="827408"/>
            <a:ext cx="10552231" cy="6008661"/>
            <a:chOff x="1170743" y="827408"/>
            <a:chExt cx="10552231" cy="6008661"/>
          </a:xfrm>
        </p:grpSpPr>
        <p:sp>
          <p:nvSpPr>
            <p:cNvPr id="23" name="Text 2">
              <a:extLst>
                <a:ext uri="{FF2B5EF4-FFF2-40B4-BE49-F238E27FC236}">
                  <a16:creationId xmlns:a16="http://schemas.microsoft.com/office/drawing/2014/main" id="{1B77697B-EBF1-526F-5F14-DAB70E9FE8C8}"/>
                </a:ext>
              </a:extLst>
            </p:cNvPr>
            <p:cNvSpPr/>
            <p:nvPr/>
          </p:nvSpPr>
          <p:spPr>
            <a:xfrm>
              <a:off x="3118961" y="4692563"/>
              <a:ext cx="8115096" cy="372070"/>
            </a:xfrm>
            <a:prstGeom prst="rect">
              <a:avLst/>
            </a:prstGeom>
            <a:noFill/>
            <a:ln/>
          </p:spPr>
          <p:txBody>
            <a:bodyPr wrap="none" lIns="0" tIns="0" rIns="0" bIns="0" rtlCol="0" anchor="t"/>
            <a:lstStyle/>
            <a:p>
              <a:pPr marL="0" indent="0" algn="l">
                <a:lnSpc>
                  <a:spcPts val="2850"/>
                </a:lnSpc>
                <a:buNone/>
              </a:pPr>
              <a:endParaRPr lang="en-US" sz="2000" dirty="0"/>
            </a:p>
          </p:txBody>
        </p:sp>
        <p:sp>
          <p:nvSpPr>
            <p:cNvPr id="25" name="Text 2">
              <a:extLst>
                <a:ext uri="{FF2B5EF4-FFF2-40B4-BE49-F238E27FC236}">
                  <a16:creationId xmlns:a16="http://schemas.microsoft.com/office/drawing/2014/main" id="{629DEECD-6D67-582F-81E1-FD65C40E2B73}"/>
                </a:ext>
              </a:extLst>
            </p:cNvPr>
            <p:cNvSpPr/>
            <p:nvPr/>
          </p:nvSpPr>
          <p:spPr>
            <a:xfrm>
              <a:off x="3104544" y="4677832"/>
              <a:ext cx="8115096" cy="372070"/>
            </a:xfrm>
            <a:prstGeom prst="rect">
              <a:avLst/>
            </a:prstGeom>
            <a:noFill/>
            <a:ln/>
          </p:spPr>
          <p:txBody>
            <a:bodyPr wrap="none" lIns="0" tIns="0" rIns="0" bIns="0" rtlCol="0" anchor="t"/>
            <a:lstStyle/>
            <a:p>
              <a:pPr marL="0" indent="0" algn="l">
                <a:lnSpc>
                  <a:spcPts val="2850"/>
                </a:lnSpc>
                <a:buNone/>
              </a:pPr>
              <a:endParaRPr lang="en-US" sz="2000" dirty="0"/>
            </a:p>
          </p:txBody>
        </p:sp>
        <p:grpSp>
          <p:nvGrpSpPr>
            <p:cNvPr id="28" name="Group 27">
              <a:extLst>
                <a:ext uri="{FF2B5EF4-FFF2-40B4-BE49-F238E27FC236}">
                  <a16:creationId xmlns:a16="http://schemas.microsoft.com/office/drawing/2014/main" id="{9C2B073C-73D3-32D2-6E73-7E77144AADB8}"/>
                </a:ext>
              </a:extLst>
            </p:cNvPr>
            <p:cNvGrpSpPr/>
            <p:nvPr/>
          </p:nvGrpSpPr>
          <p:grpSpPr>
            <a:xfrm>
              <a:off x="1170743" y="827408"/>
              <a:ext cx="10552231" cy="5997724"/>
              <a:chOff x="1160431" y="1408012"/>
              <a:chExt cx="10552231" cy="5997724"/>
            </a:xfrm>
          </p:grpSpPr>
          <p:pic>
            <p:nvPicPr>
              <p:cNvPr id="3" name="Image 1" descr="preencoded.png">
                <a:extLst>
                  <a:ext uri="{FF2B5EF4-FFF2-40B4-BE49-F238E27FC236}">
                    <a16:creationId xmlns:a16="http://schemas.microsoft.com/office/drawing/2014/main" id="{CE430DC5-AEFA-2994-7614-53771CF96164}"/>
                  </a:ext>
                </a:extLst>
              </p:cNvPr>
              <p:cNvPicPr>
                <a:picLocks noChangeAspect="1"/>
              </p:cNvPicPr>
              <p:nvPr/>
            </p:nvPicPr>
            <p:blipFill>
              <a:blip r:embed="rId3">
                <a:duotone>
                  <a:schemeClr val="accent6">
                    <a:shade val="45000"/>
                    <a:satMod val="135000"/>
                  </a:schemeClr>
                  <a:prstClr val="white"/>
                </a:duotone>
              </a:blip>
              <a:stretch>
                <a:fillRect/>
              </a:stretch>
            </p:blipFill>
            <p:spPr>
              <a:xfrm>
                <a:off x="1969801" y="1420129"/>
                <a:ext cx="579907" cy="695888"/>
              </a:xfrm>
              <a:prstGeom prst="rect">
                <a:avLst/>
              </a:prstGeom>
            </p:spPr>
          </p:pic>
          <p:sp>
            <p:nvSpPr>
              <p:cNvPr id="11" name="Text 1">
                <a:extLst>
                  <a:ext uri="{FF2B5EF4-FFF2-40B4-BE49-F238E27FC236}">
                    <a16:creationId xmlns:a16="http://schemas.microsoft.com/office/drawing/2014/main" id="{EA2B03EE-216D-E3A1-D3E6-5CC697EF9ED1}"/>
                  </a:ext>
                </a:extLst>
              </p:cNvPr>
              <p:cNvSpPr/>
              <p:nvPr/>
            </p:nvSpPr>
            <p:spPr>
              <a:xfrm>
                <a:off x="3118960" y="1408012"/>
                <a:ext cx="2977039" cy="372070"/>
              </a:xfrm>
              <a:prstGeom prst="rect">
                <a:avLst/>
              </a:prstGeom>
              <a:noFill/>
              <a:ln/>
            </p:spPr>
            <p:txBody>
              <a:bodyPr wrap="none" lIns="0" tIns="0" rIns="0" bIns="0" rtlCol="0" anchor="t"/>
              <a:lstStyle/>
              <a:p>
                <a:pPr marL="0" indent="0" algn="l">
                  <a:lnSpc>
                    <a:spcPts val="2900"/>
                  </a:lnSpc>
                  <a:buNone/>
                </a:pPr>
                <a:r>
                  <a:rPr lang="en-US" sz="2000" dirty="0"/>
                  <a:t>Data Collection</a:t>
                </a:r>
              </a:p>
            </p:txBody>
          </p:sp>
          <p:sp>
            <p:nvSpPr>
              <p:cNvPr id="12" name="Text 2">
                <a:extLst>
                  <a:ext uri="{FF2B5EF4-FFF2-40B4-BE49-F238E27FC236}">
                    <a16:creationId xmlns:a16="http://schemas.microsoft.com/office/drawing/2014/main" id="{A345184E-BB49-F66C-F8BD-245C84AB1142}"/>
                  </a:ext>
                </a:extLst>
              </p:cNvPr>
              <p:cNvSpPr/>
              <p:nvPr/>
            </p:nvSpPr>
            <p:spPr>
              <a:xfrm>
                <a:off x="3108648" y="1828312"/>
                <a:ext cx="8115096" cy="372070"/>
              </a:xfrm>
              <a:prstGeom prst="rect">
                <a:avLst/>
              </a:prstGeom>
              <a:noFill/>
              <a:ln/>
            </p:spPr>
            <p:txBody>
              <a:bodyPr wrap="none" lIns="0" tIns="0" rIns="0" bIns="0" rtlCol="0" anchor="t"/>
              <a:lstStyle/>
              <a:p>
                <a:pPr marL="0" indent="0" algn="l">
                  <a:lnSpc>
                    <a:spcPts val="2850"/>
                  </a:lnSpc>
                  <a:buNone/>
                </a:pPr>
                <a:r>
                  <a:rPr lang="en-US" dirty="0"/>
                  <a:t>Pima Indians diabetes dataset used, E.g. Glucose, insulin, Pregnancies…. </a:t>
                </a:r>
                <a:r>
                  <a:rPr lang="en-US" dirty="0" err="1"/>
                  <a:t>etc</a:t>
                </a:r>
                <a:endParaRPr lang="en-US" dirty="0"/>
              </a:p>
            </p:txBody>
          </p:sp>
          <p:pic>
            <p:nvPicPr>
              <p:cNvPr id="13" name="Image 2" descr="preencoded.png">
                <a:extLst>
                  <a:ext uri="{FF2B5EF4-FFF2-40B4-BE49-F238E27FC236}">
                    <a16:creationId xmlns:a16="http://schemas.microsoft.com/office/drawing/2014/main" id="{1C537AA7-5F2F-C394-14FA-0587AD7D57B8}"/>
                  </a:ext>
                </a:extLst>
              </p:cNvPr>
              <p:cNvPicPr>
                <a:picLocks noChangeAspect="1"/>
              </p:cNvPicPr>
              <p:nvPr/>
            </p:nvPicPr>
            <p:blipFill>
              <a:blip r:embed="rId4"/>
              <a:stretch>
                <a:fillRect/>
              </a:stretch>
            </p:blipFill>
            <p:spPr>
              <a:xfrm>
                <a:off x="1160431" y="2278928"/>
                <a:ext cx="599333" cy="719199"/>
              </a:xfrm>
              <a:prstGeom prst="rect">
                <a:avLst/>
              </a:prstGeom>
            </p:spPr>
          </p:pic>
          <p:pic>
            <p:nvPicPr>
              <p:cNvPr id="14" name="Image 3" descr="preencoded.png">
                <a:extLst>
                  <a:ext uri="{FF2B5EF4-FFF2-40B4-BE49-F238E27FC236}">
                    <a16:creationId xmlns:a16="http://schemas.microsoft.com/office/drawing/2014/main" id="{CE15B9DE-2F66-24DB-BD8B-A2A8E961C1D5}"/>
                  </a:ext>
                </a:extLst>
              </p:cNvPr>
              <p:cNvPicPr>
                <a:picLocks noChangeAspect="1"/>
              </p:cNvPicPr>
              <p:nvPr/>
            </p:nvPicPr>
            <p:blipFill>
              <a:blip r:embed="rId5">
                <a:duotone>
                  <a:schemeClr val="accent4">
                    <a:shade val="45000"/>
                    <a:satMod val="135000"/>
                  </a:schemeClr>
                  <a:prstClr val="white"/>
                </a:duotone>
              </a:blip>
              <a:stretch>
                <a:fillRect/>
              </a:stretch>
            </p:blipFill>
            <p:spPr>
              <a:xfrm>
                <a:off x="1969801" y="3315726"/>
                <a:ext cx="599333" cy="695887"/>
              </a:xfrm>
              <a:prstGeom prst="rect">
                <a:avLst/>
              </a:prstGeom>
            </p:spPr>
          </p:pic>
          <p:pic>
            <p:nvPicPr>
              <p:cNvPr id="15" name="Image 4" descr="preencoded.png">
                <a:extLst>
                  <a:ext uri="{FF2B5EF4-FFF2-40B4-BE49-F238E27FC236}">
                    <a16:creationId xmlns:a16="http://schemas.microsoft.com/office/drawing/2014/main" id="{C5A25F28-AA99-97D6-74D9-492C33D9EC74}"/>
                  </a:ext>
                </a:extLst>
              </p:cNvPr>
              <p:cNvPicPr>
                <a:picLocks noChangeAspect="1"/>
              </p:cNvPicPr>
              <p:nvPr/>
            </p:nvPicPr>
            <p:blipFill>
              <a:blip r:embed="rId6">
                <a:duotone>
                  <a:schemeClr val="accent1">
                    <a:shade val="45000"/>
                    <a:satMod val="135000"/>
                  </a:schemeClr>
                  <a:prstClr val="white"/>
                </a:duotone>
              </a:blip>
              <a:stretch>
                <a:fillRect/>
              </a:stretch>
            </p:blipFill>
            <p:spPr>
              <a:xfrm>
                <a:off x="1160431" y="4261248"/>
                <a:ext cx="599333" cy="719200"/>
              </a:xfrm>
              <a:prstGeom prst="rect">
                <a:avLst/>
              </a:prstGeom>
            </p:spPr>
          </p:pic>
          <p:sp>
            <p:nvSpPr>
              <p:cNvPr id="18" name="Text 1">
                <a:extLst>
                  <a:ext uri="{FF2B5EF4-FFF2-40B4-BE49-F238E27FC236}">
                    <a16:creationId xmlns:a16="http://schemas.microsoft.com/office/drawing/2014/main" id="{C2AC82B3-85D3-7C70-459B-B82D451F9908}"/>
                  </a:ext>
                </a:extLst>
              </p:cNvPr>
              <p:cNvSpPr/>
              <p:nvPr/>
            </p:nvSpPr>
            <p:spPr>
              <a:xfrm>
                <a:off x="2205959" y="2262237"/>
                <a:ext cx="2977039" cy="372070"/>
              </a:xfrm>
              <a:prstGeom prst="rect">
                <a:avLst/>
              </a:prstGeom>
              <a:noFill/>
              <a:ln/>
            </p:spPr>
            <p:txBody>
              <a:bodyPr wrap="none" lIns="0" tIns="0" rIns="0" bIns="0" rtlCol="0" anchor="t"/>
              <a:lstStyle/>
              <a:p>
                <a:pPr marL="0" indent="0" algn="l">
                  <a:lnSpc>
                    <a:spcPts val="2900"/>
                  </a:lnSpc>
                  <a:buNone/>
                </a:pPr>
                <a:r>
                  <a:rPr lang="en-US" sz="2000" dirty="0"/>
                  <a:t>Data Preprocessing</a:t>
                </a:r>
              </a:p>
            </p:txBody>
          </p:sp>
          <p:sp>
            <p:nvSpPr>
              <p:cNvPr id="19" name="Text 2">
                <a:extLst>
                  <a:ext uri="{FF2B5EF4-FFF2-40B4-BE49-F238E27FC236}">
                    <a16:creationId xmlns:a16="http://schemas.microsoft.com/office/drawing/2014/main" id="{528990B4-0F21-14A2-1A6A-AD8591EDAA7D}"/>
                  </a:ext>
                </a:extLst>
              </p:cNvPr>
              <p:cNvSpPr/>
              <p:nvPr/>
            </p:nvSpPr>
            <p:spPr>
              <a:xfrm>
                <a:off x="2205959" y="2631572"/>
                <a:ext cx="9506703" cy="409775"/>
              </a:xfrm>
              <a:prstGeom prst="rect">
                <a:avLst/>
              </a:prstGeom>
              <a:noFill/>
              <a:ln/>
            </p:spPr>
            <p:txBody>
              <a:bodyPr wrap="none" lIns="0" tIns="0" rIns="0" bIns="0" rtlCol="0" anchor="t"/>
              <a:lstStyle/>
              <a:p>
                <a:pPr marL="0" indent="0" algn="l">
                  <a:lnSpc>
                    <a:spcPts val="2850"/>
                  </a:lnSpc>
                  <a:buNone/>
                </a:pPr>
                <a:r>
                  <a:rPr lang="en-US" dirty="0"/>
                  <a:t>Pima Indians diabetes database requires several step to handle missing values &amp; train model</a:t>
                </a:r>
              </a:p>
            </p:txBody>
          </p:sp>
          <p:sp>
            <p:nvSpPr>
              <p:cNvPr id="22" name="Text 1">
                <a:extLst>
                  <a:ext uri="{FF2B5EF4-FFF2-40B4-BE49-F238E27FC236}">
                    <a16:creationId xmlns:a16="http://schemas.microsoft.com/office/drawing/2014/main" id="{2B65CA3A-03CF-5F14-0B05-E7307BD6C556}"/>
                  </a:ext>
                </a:extLst>
              </p:cNvPr>
              <p:cNvSpPr/>
              <p:nvPr/>
            </p:nvSpPr>
            <p:spPr>
              <a:xfrm>
                <a:off x="2887433" y="3586241"/>
                <a:ext cx="4319771" cy="465160"/>
              </a:xfrm>
              <a:prstGeom prst="rect">
                <a:avLst/>
              </a:prstGeom>
              <a:noFill/>
              <a:ln/>
            </p:spPr>
            <p:txBody>
              <a:bodyPr wrap="none" lIns="0" tIns="0" rIns="0" bIns="0" rtlCol="0" anchor="t"/>
              <a:lstStyle/>
              <a:p>
                <a:pPr marL="0" indent="0" algn="l">
                  <a:lnSpc>
                    <a:spcPts val="2900"/>
                  </a:lnSpc>
                  <a:buNone/>
                </a:pPr>
                <a:r>
                  <a:rPr lang="en-US" sz="2000" dirty="0"/>
                  <a:t>In the stage it pick only  Importance Data</a:t>
                </a:r>
              </a:p>
            </p:txBody>
          </p:sp>
          <p:sp>
            <p:nvSpPr>
              <p:cNvPr id="24" name="Text 1">
                <a:extLst>
                  <a:ext uri="{FF2B5EF4-FFF2-40B4-BE49-F238E27FC236}">
                    <a16:creationId xmlns:a16="http://schemas.microsoft.com/office/drawing/2014/main" id="{8A91FECD-9A28-7188-EFD2-38A1A19343AC}"/>
                  </a:ext>
                </a:extLst>
              </p:cNvPr>
              <p:cNvSpPr/>
              <p:nvPr/>
            </p:nvSpPr>
            <p:spPr>
              <a:xfrm>
                <a:off x="2269467" y="6639332"/>
                <a:ext cx="3574355" cy="372070"/>
              </a:xfrm>
              <a:prstGeom prst="rect">
                <a:avLst/>
              </a:prstGeom>
              <a:noFill/>
              <a:ln/>
            </p:spPr>
            <p:txBody>
              <a:bodyPr wrap="none" lIns="0" tIns="0" rIns="0" bIns="0" rtlCol="0" anchor="t"/>
              <a:lstStyle/>
              <a:p>
                <a:pPr marL="0" indent="0" algn="l">
                  <a:lnSpc>
                    <a:spcPts val="2900"/>
                  </a:lnSpc>
                  <a:buNone/>
                </a:pPr>
                <a:r>
                  <a:rPr lang="en-US" sz="2000" dirty="0"/>
                  <a:t>Prediction &amp; Interpretation</a:t>
                </a:r>
              </a:p>
            </p:txBody>
          </p:sp>
          <p:sp>
            <p:nvSpPr>
              <p:cNvPr id="26" name="Text 2">
                <a:extLst>
                  <a:ext uri="{FF2B5EF4-FFF2-40B4-BE49-F238E27FC236}">
                    <a16:creationId xmlns:a16="http://schemas.microsoft.com/office/drawing/2014/main" id="{1F147D61-94B0-7C95-A8C0-E984428B7616}"/>
                  </a:ext>
                </a:extLst>
              </p:cNvPr>
              <p:cNvSpPr/>
              <p:nvPr/>
            </p:nvSpPr>
            <p:spPr>
              <a:xfrm>
                <a:off x="2296988" y="7033666"/>
                <a:ext cx="8115096" cy="372070"/>
              </a:xfrm>
              <a:prstGeom prst="rect">
                <a:avLst/>
              </a:prstGeom>
              <a:noFill/>
              <a:ln/>
            </p:spPr>
            <p:txBody>
              <a:bodyPr wrap="none" lIns="0" tIns="0" rIns="0" bIns="0" rtlCol="0" anchor="t"/>
              <a:lstStyle/>
              <a:p>
                <a:pPr marL="0" indent="0" algn="l">
                  <a:lnSpc>
                    <a:spcPts val="2850"/>
                  </a:lnSpc>
                  <a:buNone/>
                </a:pPr>
                <a:r>
                  <a:rPr lang="en-US" sz="2000" dirty="0"/>
                  <a:t>Final predict outcome</a:t>
                </a:r>
              </a:p>
            </p:txBody>
          </p:sp>
          <p:sp>
            <p:nvSpPr>
              <p:cNvPr id="27" name="Text 2">
                <a:extLst>
                  <a:ext uri="{FF2B5EF4-FFF2-40B4-BE49-F238E27FC236}">
                    <a16:creationId xmlns:a16="http://schemas.microsoft.com/office/drawing/2014/main" id="{D7EB120D-320D-E5AC-1749-73B0291244A4}"/>
                  </a:ext>
                </a:extLst>
              </p:cNvPr>
              <p:cNvSpPr/>
              <p:nvPr/>
            </p:nvSpPr>
            <p:spPr>
              <a:xfrm>
                <a:off x="2815230" y="5661641"/>
                <a:ext cx="8115096" cy="714591"/>
              </a:xfrm>
              <a:prstGeom prst="rect">
                <a:avLst/>
              </a:prstGeom>
              <a:noFill/>
              <a:ln/>
            </p:spPr>
            <p:txBody>
              <a:bodyPr wrap="none" lIns="0" tIns="0" rIns="0" bIns="0" rtlCol="0" anchor="t"/>
              <a:lstStyle/>
              <a:p>
                <a:pPr marL="0" indent="0" algn="l">
                  <a:lnSpc>
                    <a:spcPts val="2850"/>
                  </a:lnSpc>
                  <a:buNone/>
                </a:pPr>
                <a:r>
                  <a:rPr lang="en-US" dirty="0"/>
                  <a:t>Algorithms used: Logistic Regression, Decision Tree, Random Forest, etc.</a:t>
                </a:r>
                <a:br>
                  <a:rPr lang="en-US" dirty="0"/>
                </a:br>
                <a:r>
                  <a:rPr lang="en-IN" dirty="0"/>
                  <a:t>Metrics: Accuracy, Precision, Recall, F1-score, </a:t>
                </a:r>
                <a:endParaRPr lang="en-US" dirty="0"/>
              </a:p>
            </p:txBody>
          </p:sp>
        </p:grpSp>
        <p:grpSp>
          <p:nvGrpSpPr>
            <p:cNvPr id="33" name="Group 32">
              <a:extLst>
                <a:ext uri="{FF2B5EF4-FFF2-40B4-BE49-F238E27FC236}">
                  <a16:creationId xmlns:a16="http://schemas.microsoft.com/office/drawing/2014/main" id="{45FE27CB-3A36-BC4C-834F-7A0ADE1AB2AB}"/>
                </a:ext>
              </a:extLst>
            </p:cNvPr>
            <p:cNvGrpSpPr/>
            <p:nvPr/>
          </p:nvGrpSpPr>
          <p:grpSpPr>
            <a:xfrm>
              <a:off x="1970400" y="4740974"/>
              <a:ext cx="599332" cy="746052"/>
              <a:chOff x="1170745" y="4505572"/>
              <a:chExt cx="599332" cy="746052"/>
            </a:xfrm>
          </p:grpSpPr>
          <p:sp>
            <p:nvSpPr>
              <p:cNvPr id="31" name="Arrow: Chevron 30">
                <a:extLst>
                  <a:ext uri="{FF2B5EF4-FFF2-40B4-BE49-F238E27FC236}">
                    <a16:creationId xmlns:a16="http://schemas.microsoft.com/office/drawing/2014/main" id="{9824BB2E-345D-254E-E93E-93F71DF1FC48}"/>
                  </a:ext>
                </a:extLst>
              </p:cNvPr>
              <p:cNvSpPr/>
              <p:nvPr/>
            </p:nvSpPr>
            <p:spPr>
              <a:xfrm rot="5400000">
                <a:off x="1097385" y="4578932"/>
                <a:ext cx="746052" cy="599332"/>
              </a:xfrm>
              <a:prstGeom prst="chevron">
                <a:avLst>
                  <a:gd name="adj" fmla="val 25234"/>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dirty="0">
                  <a:solidFill>
                    <a:schemeClr val="tx1"/>
                  </a:solidFill>
                </a:endParaRPr>
              </a:p>
            </p:txBody>
          </p:sp>
          <p:sp>
            <p:nvSpPr>
              <p:cNvPr id="32" name="TextBox 31">
                <a:extLst>
                  <a:ext uri="{FF2B5EF4-FFF2-40B4-BE49-F238E27FC236}">
                    <a16:creationId xmlns:a16="http://schemas.microsoft.com/office/drawing/2014/main" id="{1928AA49-C97C-C391-A9FE-A4B35DC6A521}"/>
                  </a:ext>
                </a:extLst>
              </p:cNvPr>
              <p:cNvSpPr txBox="1"/>
              <p:nvPr/>
            </p:nvSpPr>
            <p:spPr>
              <a:xfrm>
                <a:off x="1319408" y="4711009"/>
                <a:ext cx="302003" cy="369332"/>
              </a:xfrm>
              <a:prstGeom prst="rect">
                <a:avLst/>
              </a:prstGeom>
              <a:noFill/>
            </p:spPr>
            <p:txBody>
              <a:bodyPr wrap="square" rtlCol="0">
                <a:spAutoFit/>
              </a:bodyPr>
              <a:lstStyle/>
              <a:p>
                <a:r>
                  <a:rPr lang="en-US" dirty="0">
                    <a:solidFill>
                      <a:schemeClr val="bg1"/>
                    </a:solidFill>
                  </a:rPr>
                  <a:t>5</a:t>
                </a:r>
                <a:endParaRPr lang="en-IN" dirty="0">
                  <a:solidFill>
                    <a:schemeClr val="bg1"/>
                  </a:solidFill>
                </a:endParaRPr>
              </a:p>
            </p:txBody>
          </p:sp>
        </p:grpSp>
        <p:grpSp>
          <p:nvGrpSpPr>
            <p:cNvPr id="42" name="Group 41">
              <a:extLst>
                <a:ext uri="{FF2B5EF4-FFF2-40B4-BE49-F238E27FC236}">
                  <a16:creationId xmlns:a16="http://schemas.microsoft.com/office/drawing/2014/main" id="{0AB78488-ABDA-D7D9-9EC3-2C061ADA5F61}"/>
                </a:ext>
              </a:extLst>
            </p:cNvPr>
            <p:cNvGrpSpPr/>
            <p:nvPr/>
          </p:nvGrpSpPr>
          <p:grpSpPr>
            <a:xfrm>
              <a:off x="1180456" y="6116868"/>
              <a:ext cx="579906" cy="719201"/>
              <a:chOff x="1170744" y="5633566"/>
              <a:chExt cx="579906" cy="719201"/>
            </a:xfrm>
          </p:grpSpPr>
          <p:sp>
            <p:nvSpPr>
              <p:cNvPr id="40" name="Arrow: Chevron 39">
                <a:extLst>
                  <a:ext uri="{FF2B5EF4-FFF2-40B4-BE49-F238E27FC236}">
                    <a16:creationId xmlns:a16="http://schemas.microsoft.com/office/drawing/2014/main" id="{8C90CA69-EFBE-8AC6-3218-CEA3F16D59A0}"/>
                  </a:ext>
                </a:extLst>
              </p:cNvPr>
              <p:cNvSpPr/>
              <p:nvPr/>
            </p:nvSpPr>
            <p:spPr>
              <a:xfrm rot="5400000">
                <a:off x="1101096" y="5703214"/>
                <a:ext cx="719201" cy="579906"/>
              </a:xfrm>
              <a:prstGeom prst="chevron">
                <a:avLst>
                  <a:gd name="adj" fmla="val 25741"/>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chemeClr val="tx1"/>
                  </a:solidFill>
                </a:endParaRPr>
              </a:p>
            </p:txBody>
          </p:sp>
          <p:sp>
            <p:nvSpPr>
              <p:cNvPr id="41" name="TextBox 40">
                <a:extLst>
                  <a:ext uri="{FF2B5EF4-FFF2-40B4-BE49-F238E27FC236}">
                    <a16:creationId xmlns:a16="http://schemas.microsoft.com/office/drawing/2014/main" id="{C67737BC-DE16-52DE-586A-39E75F810113}"/>
                  </a:ext>
                </a:extLst>
              </p:cNvPr>
              <p:cNvSpPr txBox="1"/>
              <p:nvPr/>
            </p:nvSpPr>
            <p:spPr>
              <a:xfrm>
                <a:off x="1290581" y="5796844"/>
                <a:ext cx="251669" cy="369332"/>
              </a:xfrm>
              <a:prstGeom prst="rect">
                <a:avLst/>
              </a:prstGeom>
              <a:noFill/>
            </p:spPr>
            <p:txBody>
              <a:bodyPr wrap="square" rtlCol="0">
                <a:spAutoFit/>
              </a:bodyPr>
              <a:lstStyle/>
              <a:p>
                <a:r>
                  <a:rPr lang="en-US" dirty="0">
                    <a:solidFill>
                      <a:schemeClr val="bg1"/>
                    </a:solidFill>
                  </a:rPr>
                  <a:t>6</a:t>
                </a:r>
                <a:endParaRPr lang="en-IN" dirty="0">
                  <a:solidFill>
                    <a:schemeClr val="bg1"/>
                  </a:solidFill>
                </a:endParaRPr>
              </a:p>
            </p:txBody>
          </p:sp>
        </p:grpSp>
        <p:sp>
          <p:nvSpPr>
            <p:cNvPr id="43" name="Text 1">
              <a:extLst>
                <a:ext uri="{FF2B5EF4-FFF2-40B4-BE49-F238E27FC236}">
                  <a16:creationId xmlns:a16="http://schemas.microsoft.com/office/drawing/2014/main" id="{969C656B-9A0E-8785-51E1-B2220571FBD2}"/>
                </a:ext>
              </a:extLst>
            </p:cNvPr>
            <p:cNvSpPr/>
            <p:nvPr/>
          </p:nvSpPr>
          <p:spPr>
            <a:xfrm>
              <a:off x="2825542" y="4689370"/>
              <a:ext cx="3494110" cy="465160"/>
            </a:xfrm>
            <a:prstGeom prst="rect">
              <a:avLst/>
            </a:prstGeom>
            <a:noFill/>
            <a:ln/>
          </p:spPr>
          <p:txBody>
            <a:bodyPr wrap="none" lIns="0" tIns="0" rIns="0" bIns="0" rtlCol="0" anchor="t"/>
            <a:lstStyle/>
            <a:p>
              <a:pPr marL="0" indent="0" algn="l">
                <a:lnSpc>
                  <a:spcPts val="2900"/>
                </a:lnSpc>
                <a:buNone/>
              </a:pPr>
              <a:r>
                <a:rPr lang="en-US" sz="2000" dirty="0"/>
                <a:t>Model Fitting &amp; Evaluation</a:t>
              </a:r>
            </a:p>
          </p:txBody>
        </p:sp>
        <p:sp>
          <p:nvSpPr>
            <p:cNvPr id="45" name="Text 1">
              <a:extLst>
                <a:ext uri="{FF2B5EF4-FFF2-40B4-BE49-F238E27FC236}">
                  <a16:creationId xmlns:a16="http://schemas.microsoft.com/office/drawing/2014/main" id="{7EC074A5-3736-F211-5FBE-AA4A1C7F0DB1}"/>
                </a:ext>
              </a:extLst>
            </p:cNvPr>
            <p:cNvSpPr/>
            <p:nvPr/>
          </p:nvSpPr>
          <p:spPr>
            <a:xfrm>
              <a:off x="2270064" y="3659107"/>
              <a:ext cx="3494110" cy="465160"/>
            </a:xfrm>
            <a:prstGeom prst="rect">
              <a:avLst/>
            </a:prstGeom>
            <a:noFill/>
            <a:ln/>
          </p:spPr>
          <p:txBody>
            <a:bodyPr wrap="none" lIns="0" tIns="0" rIns="0" bIns="0" rtlCol="0" anchor="t"/>
            <a:lstStyle/>
            <a:p>
              <a:pPr marL="0" indent="0" algn="l">
                <a:lnSpc>
                  <a:spcPts val="2900"/>
                </a:lnSpc>
                <a:buNone/>
              </a:pPr>
              <a:r>
                <a:rPr lang="en-US" sz="2000" dirty="0"/>
                <a:t>Data Partitioning</a:t>
              </a:r>
            </a:p>
          </p:txBody>
        </p:sp>
        <p:sp>
          <p:nvSpPr>
            <p:cNvPr id="46" name="Text 1">
              <a:extLst>
                <a:ext uri="{FF2B5EF4-FFF2-40B4-BE49-F238E27FC236}">
                  <a16:creationId xmlns:a16="http://schemas.microsoft.com/office/drawing/2014/main" id="{BF1B1545-816A-0B90-58CE-8396A2D7C8DD}"/>
                </a:ext>
              </a:extLst>
            </p:cNvPr>
            <p:cNvSpPr/>
            <p:nvPr/>
          </p:nvSpPr>
          <p:spPr>
            <a:xfrm>
              <a:off x="2279779" y="4042499"/>
              <a:ext cx="5935966" cy="488361"/>
            </a:xfrm>
            <a:prstGeom prst="rect">
              <a:avLst/>
            </a:prstGeom>
            <a:noFill/>
            <a:ln/>
          </p:spPr>
          <p:txBody>
            <a:bodyPr wrap="none" lIns="0" tIns="0" rIns="0" bIns="0" rtlCol="0" anchor="t"/>
            <a:lstStyle/>
            <a:p>
              <a:pPr marL="0" indent="0" algn="l">
                <a:lnSpc>
                  <a:spcPts val="2900"/>
                </a:lnSpc>
                <a:buNone/>
              </a:pPr>
              <a:r>
                <a:rPr lang="en-US" sz="2000" dirty="0"/>
                <a:t>Dataset is splitting into two parts i.e. Training and Testing.</a:t>
              </a:r>
            </a:p>
          </p:txBody>
        </p:sp>
      </p:grpSp>
    </p:spTree>
    <p:extLst>
      <p:ext uri="{BB962C8B-B14F-4D97-AF65-F5344CB8AC3E}">
        <p14:creationId xmlns:p14="http://schemas.microsoft.com/office/powerpoint/2010/main" val="198027273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4C5C0-136A-1DBC-A9D8-04F2E3802637}"/>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317F46BA-7284-41DB-4FBE-9717670C02BC}"/>
              </a:ext>
            </a:extLst>
          </p:cNvPr>
          <p:cNvSpPr/>
          <p:nvPr/>
        </p:nvSpPr>
        <p:spPr>
          <a:xfrm rot="19288925">
            <a:off x="9231991" y="3166870"/>
            <a:ext cx="1741493" cy="126710"/>
          </a:xfrm>
          <a:prstGeom prst="roundRect">
            <a:avLst/>
          </a:prstGeom>
          <a:solidFill>
            <a:schemeClr val="accent4">
              <a:lumMod val="40000"/>
              <a:lumOff val="6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FC6AF9A6-142E-3B7B-792F-3212727BCB07}"/>
              </a:ext>
            </a:extLst>
          </p:cNvPr>
          <p:cNvSpPr/>
          <p:nvPr/>
        </p:nvSpPr>
        <p:spPr>
          <a:xfrm rot="1844041">
            <a:off x="9360466" y="3937842"/>
            <a:ext cx="1741493" cy="126710"/>
          </a:xfrm>
          <a:prstGeom prst="roundRect">
            <a:avLst/>
          </a:prstGeom>
          <a:solidFill>
            <a:schemeClr val="accent4">
              <a:lumMod val="40000"/>
              <a:lumOff val="6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2EF382CD-3301-8368-9334-0E2C75B30559}"/>
              </a:ext>
            </a:extLst>
          </p:cNvPr>
          <p:cNvSpPr/>
          <p:nvPr/>
        </p:nvSpPr>
        <p:spPr>
          <a:xfrm>
            <a:off x="1666147" y="3429000"/>
            <a:ext cx="643467" cy="313267"/>
          </a:xfrm>
          <a:prstGeom prst="roundRect">
            <a:avLst/>
          </a:prstGeom>
          <a:solidFill>
            <a:schemeClr val="accent4">
              <a:lumMod val="40000"/>
              <a:lumOff val="6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 name="Google Shape;101;p1">
            <a:extLst>
              <a:ext uri="{FF2B5EF4-FFF2-40B4-BE49-F238E27FC236}">
                <a16:creationId xmlns:a16="http://schemas.microsoft.com/office/drawing/2014/main" id="{EBB92006-4370-9EEA-B53E-E4D0D3AD99A5}"/>
              </a:ext>
            </a:extLst>
          </p:cNvPr>
          <p:cNvSpPr/>
          <p:nvPr/>
        </p:nvSpPr>
        <p:spPr>
          <a:xfrm>
            <a:off x="10617958" y="0"/>
            <a:ext cx="1446781" cy="1173707"/>
          </a:xfrm>
          <a:custGeom>
            <a:avLst/>
            <a:gdLst/>
            <a:ahLst/>
            <a:cxnLst/>
            <a:rect l="l" t="t" r="r" b="b"/>
            <a:pathLst>
              <a:path w="1283459" h="963151" extrusionOk="0">
                <a:moveTo>
                  <a:pt x="0" y="0"/>
                </a:moveTo>
                <a:lnTo>
                  <a:pt x="1283459" y="0"/>
                </a:lnTo>
                <a:lnTo>
                  <a:pt x="1283459" y="963151"/>
                </a:lnTo>
                <a:lnTo>
                  <a:pt x="0" y="963151"/>
                </a:lnTo>
                <a:lnTo>
                  <a:pt x="0" y="0"/>
                </a:lnTo>
                <a:close/>
              </a:path>
            </a:pathLst>
          </a:custGeom>
          <a:blipFill rotWithShape="1">
            <a:blip r:embed="rId2">
              <a:alphaModFix amt="94000"/>
            </a:blip>
            <a:stretch>
              <a:fillRect/>
            </a:stretch>
          </a:blipFill>
          <a:ln>
            <a:noFill/>
          </a:ln>
        </p:spPr>
        <p:txBody>
          <a:bodyPr/>
          <a:lstStyle/>
          <a:p>
            <a:endParaRPr lang="en-IN"/>
          </a:p>
        </p:txBody>
      </p:sp>
      <p:sp>
        <p:nvSpPr>
          <p:cNvPr id="6" name="Google Shape;96;p2">
            <a:extLst>
              <a:ext uri="{FF2B5EF4-FFF2-40B4-BE49-F238E27FC236}">
                <a16:creationId xmlns:a16="http://schemas.microsoft.com/office/drawing/2014/main" id="{CAF58EEC-C915-6318-2F54-EBE18E05C3FD}"/>
              </a:ext>
            </a:extLst>
          </p:cNvPr>
          <p:cNvSpPr txBox="1">
            <a:spLocks noGrp="1"/>
          </p:cNvSpPr>
          <p:nvPr/>
        </p:nvSpPr>
        <p:spPr>
          <a:xfrm>
            <a:off x="1031147" y="447665"/>
            <a:ext cx="1051560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chemeClr val="dk1"/>
              </a:buClr>
              <a:buSzPts val="4400"/>
              <a:buFont typeface="Times New Roman"/>
              <a:buNone/>
            </a:pPr>
            <a:r>
              <a:rPr lang="en-US" sz="3200" b="1" dirty="0">
                <a:latin typeface="Times New Roman"/>
                <a:ea typeface="Times New Roman"/>
                <a:cs typeface="Times New Roman"/>
                <a:sym typeface="Times New Roman"/>
              </a:rPr>
              <a:t>Flowchart</a:t>
            </a:r>
            <a:endParaRPr sz="3200" b="1" dirty="0">
              <a:latin typeface="Times New Roman"/>
              <a:ea typeface="Times New Roman"/>
              <a:cs typeface="Times New Roman"/>
              <a:sym typeface="Times New Roman"/>
            </a:endParaRPr>
          </a:p>
        </p:txBody>
      </p:sp>
      <p:sp>
        <p:nvSpPr>
          <p:cNvPr id="7" name="Rectangle 6">
            <a:extLst>
              <a:ext uri="{FF2B5EF4-FFF2-40B4-BE49-F238E27FC236}">
                <a16:creationId xmlns:a16="http://schemas.microsoft.com/office/drawing/2014/main" id="{0C2E5096-AE1C-0621-FEA3-910DC02BF1BA}"/>
              </a:ext>
            </a:extLst>
          </p:cNvPr>
          <p:cNvSpPr/>
          <p:nvPr/>
        </p:nvSpPr>
        <p:spPr>
          <a:xfrm>
            <a:off x="396147" y="3064933"/>
            <a:ext cx="1270000" cy="102684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000" b="1" dirty="0"/>
              <a:t>Diabetes</a:t>
            </a:r>
            <a:br>
              <a:rPr lang="en-US" sz="2000" b="1" dirty="0"/>
            </a:br>
            <a:r>
              <a:rPr lang="en-US" sz="2000" b="1" dirty="0"/>
              <a:t>Data</a:t>
            </a:r>
            <a:endParaRPr lang="en-IN" sz="2000" b="1" dirty="0"/>
          </a:p>
        </p:txBody>
      </p:sp>
      <p:sp>
        <p:nvSpPr>
          <p:cNvPr id="9" name="Rectangle 8">
            <a:extLst>
              <a:ext uri="{FF2B5EF4-FFF2-40B4-BE49-F238E27FC236}">
                <a16:creationId xmlns:a16="http://schemas.microsoft.com/office/drawing/2014/main" id="{C7D1B2BF-1DE1-85CC-EAE8-522462287441}"/>
              </a:ext>
            </a:extLst>
          </p:cNvPr>
          <p:cNvSpPr/>
          <p:nvPr/>
        </p:nvSpPr>
        <p:spPr>
          <a:xfrm>
            <a:off x="2301147" y="3064933"/>
            <a:ext cx="1270000" cy="102684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000" b="1" dirty="0"/>
              <a:t>Data Cleaning</a:t>
            </a:r>
            <a:endParaRPr lang="en-IN" sz="2000" b="1" dirty="0"/>
          </a:p>
        </p:txBody>
      </p:sp>
      <p:sp>
        <p:nvSpPr>
          <p:cNvPr id="11" name="Rectangle 10">
            <a:extLst>
              <a:ext uri="{FF2B5EF4-FFF2-40B4-BE49-F238E27FC236}">
                <a16:creationId xmlns:a16="http://schemas.microsoft.com/office/drawing/2014/main" id="{242996D1-1C03-58DE-79DC-15A8FC551FA2}"/>
              </a:ext>
            </a:extLst>
          </p:cNvPr>
          <p:cNvSpPr/>
          <p:nvPr/>
        </p:nvSpPr>
        <p:spPr>
          <a:xfrm>
            <a:off x="4223081" y="3072209"/>
            <a:ext cx="1270000" cy="102684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000" b="1" dirty="0"/>
              <a:t>Features Extraction</a:t>
            </a:r>
            <a:endParaRPr lang="en-IN" sz="2000" b="1" dirty="0"/>
          </a:p>
        </p:txBody>
      </p:sp>
      <p:sp>
        <p:nvSpPr>
          <p:cNvPr id="13" name="Rectangle: Rounded Corners 12">
            <a:extLst>
              <a:ext uri="{FF2B5EF4-FFF2-40B4-BE49-F238E27FC236}">
                <a16:creationId xmlns:a16="http://schemas.microsoft.com/office/drawing/2014/main" id="{7909BAB6-DBFC-B96D-548C-1D7C1E81CA03}"/>
              </a:ext>
            </a:extLst>
          </p:cNvPr>
          <p:cNvSpPr/>
          <p:nvPr/>
        </p:nvSpPr>
        <p:spPr>
          <a:xfrm>
            <a:off x="3579614" y="3429000"/>
            <a:ext cx="643467" cy="313267"/>
          </a:xfrm>
          <a:prstGeom prst="roundRect">
            <a:avLst/>
          </a:prstGeom>
          <a:solidFill>
            <a:schemeClr val="accent4">
              <a:lumMod val="40000"/>
              <a:lumOff val="6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14" name="Rectangle 13">
            <a:extLst>
              <a:ext uri="{FF2B5EF4-FFF2-40B4-BE49-F238E27FC236}">
                <a16:creationId xmlns:a16="http://schemas.microsoft.com/office/drawing/2014/main" id="{37E7F617-3A2B-30A3-5AC8-04F790190548}"/>
              </a:ext>
            </a:extLst>
          </p:cNvPr>
          <p:cNvSpPr/>
          <p:nvPr/>
        </p:nvSpPr>
        <p:spPr>
          <a:xfrm>
            <a:off x="6145015" y="3072209"/>
            <a:ext cx="1270000" cy="102684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000" b="1" dirty="0"/>
              <a:t>Machine Learning</a:t>
            </a:r>
            <a:endParaRPr lang="en-IN" sz="2000" b="1" dirty="0"/>
          </a:p>
        </p:txBody>
      </p:sp>
      <p:sp>
        <p:nvSpPr>
          <p:cNvPr id="15" name="Rectangle: Rounded Corners 14">
            <a:extLst>
              <a:ext uri="{FF2B5EF4-FFF2-40B4-BE49-F238E27FC236}">
                <a16:creationId xmlns:a16="http://schemas.microsoft.com/office/drawing/2014/main" id="{CEF574E7-D3B2-1018-7A63-94B451C54512}"/>
              </a:ext>
            </a:extLst>
          </p:cNvPr>
          <p:cNvSpPr/>
          <p:nvPr/>
        </p:nvSpPr>
        <p:spPr>
          <a:xfrm>
            <a:off x="5501548" y="3429000"/>
            <a:ext cx="643467" cy="313267"/>
          </a:xfrm>
          <a:prstGeom prst="roundRect">
            <a:avLst/>
          </a:prstGeom>
          <a:solidFill>
            <a:schemeClr val="accent4">
              <a:lumMod val="40000"/>
              <a:lumOff val="6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17" name="Rectangle 16">
            <a:extLst>
              <a:ext uri="{FF2B5EF4-FFF2-40B4-BE49-F238E27FC236}">
                <a16:creationId xmlns:a16="http://schemas.microsoft.com/office/drawing/2014/main" id="{CD6A565C-41E5-7C4C-BBA9-E18624F4D9C8}"/>
              </a:ext>
            </a:extLst>
          </p:cNvPr>
          <p:cNvSpPr/>
          <p:nvPr/>
        </p:nvSpPr>
        <p:spPr>
          <a:xfrm>
            <a:off x="8066948" y="3083549"/>
            <a:ext cx="1572001" cy="102684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000" b="1" dirty="0"/>
              <a:t>Classification</a:t>
            </a:r>
            <a:endParaRPr lang="en-IN" sz="2000" b="1" dirty="0"/>
          </a:p>
        </p:txBody>
      </p:sp>
      <p:sp>
        <p:nvSpPr>
          <p:cNvPr id="18" name="Rectangle: Rounded Corners 17">
            <a:extLst>
              <a:ext uri="{FF2B5EF4-FFF2-40B4-BE49-F238E27FC236}">
                <a16:creationId xmlns:a16="http://schemas.microsoft.com/office/drawing/2014/main" id="{D9A79DA8-66FD-0190-C344-20A31EA77915}"/>
              </a:ext>
            </a:extLst>
          </p:cNvPr>
          <p:cNvSpPr/>
          <p:nvPr/>
        </p:nvSpPr>
        <p:spPr>
          <a:xfrm>
            <a:off x="7423482" y="3440340"/>
            <a:ext cx="643467" cy="313267"/>
          </a:xfrm>
          <a:prstGeom prst="roundRect">
            <a:avLst/>
          </a:prstGeom>
          <a:solidFill>
            <a:schemeClr val="accent4">
              <a:lumMod val="40000"/>
              <a:lumOff val="6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19" name="Rectangle 18">
            <a:extLst>
              <a:ext uri="{FF2B5EF4-FFF2-40B4-BE49-F238E27FC236}">
                <a16:creationId xmlns:a16="http://schemas.microsoft.com/office/drawing/2014/main" id="{46CEA39C-D244-022D-A94E-C8930A1C0532}"/>
              </a:ext>
            </a:extLst>
          </p:cNvPr>
          <p:cNvSpPr/>
          <p:nvPr/>
        </p:nvSpPr>
        <p:spPr>
          <a:xfrm>
            <a:off x="10706348" y="2311122"/>
            <a:ext cx="1270000" cy="79966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000" b="1" dirty="0"/>
              <a:t>Diabetes</a:t>
            </a:r>
            <a:endParaRPr lang="en-IN" sz="2000" b="1" dirty="0"/>
          </a:p>
        </p:txBody>
      </p:sp>
      <p:sp>
        <p:nvSpPr>
          <p:cNvPr id="22" name="Rectangle 21">
            <a:extLst>
              <a:ext uri="{FF2B5EF4-FFF2-40B4-BE49-F238E27FC236}">
                <a16:creationId xmlns:a16="http://schemas.microsoft.com/office/drawing/2014/main" id="{506BEE88-03CB-335B-D0AB-46AFD48E6B77}"/>
              </a:ext>
            </a:extLst>
          </p:cNvPr>
          <p:cNvSpPr/>
          <p:nvPr/>
        </p:nvSpPr>
        <p:spPr>
          <a:xfrm>
            <a:off x="10706348" y="3921978"/>
            <a:ext cx="1270000" cy="79966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000" b="1" dirty="0"/>
              <a:t>Non</a:t>
            </a:r>
          </a:p>
          <a:p>
            <a:pPr algn="ctr"/>
            <a:r>
              <a:rPr lang="en-US" sz="2000" b="1" dirty="0"/>
              <a:t>Diabetes</a:t>
            </a:r>
            <a:endParaRPr lang="en-IN" sz="2000" b="1" dirty="0"/>
          </a:p>
        </p:txBody>
      </p:sp>
      <p:sp>
        <p:nvSpPr>
          <p:cNvPr id="23" name="Rectangle 22">
            <a:extLst>
              <a:ext uri="{FF2B5EF4-FFF2-40B4-BE49-F238E27FC236}">
                <a16:creationId xmlns:a16="http://schemas.microsoft.com/office/drawing/2014/main" id="{D42FAFCB-9E0C-3D54-8AA8-3E3F29432438}"/>
              </a:ext>
            </a:extLst>
          </p:cNvPr>
          <p:cNvSpPr/>
          <p:nvPr/>
        </p:nvSpPr>
        <p:spPr>
          <a:xfrm>
            <a:off x="6096000" y="572924"/>
            <a:ext cx="1270000" cy="151008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2000" b="1" dirty="0"/>
          </a:p>
          <a:p>
            <a:pPr algn="ctr"/>
            <a:r>
              <a:rPr lang="en-US" sz="2000" b="1" dirty="0"/>
              <a:t>KNN</a:t>
            </a:r>
          </a:p>
          <a:p>
            <a:pPr algn="ctr"/>
            <a:r>
              <a:rPr lang="en-IN" sz="2000" b="1" dirty="0"/>
              <a:t>NB</a:t>
            </a:r>
          </a:p>
          <a:p>
            <a:pPr algn="ctr"/>
            <a:r>
              <a:rPr lang="en-IN" sz="2000" b="1" dirty="0"/>
              <a:t>RF</a:t>
            </a:r>
          </a:p>
          <a:p>
            <a:pPr algn="ctr"/>
            <a:r>
              <a:rPr lang="en-IN" sz="2000" b="1" dirty="0"/>
              <a:t>LP</a:t>
            </a:r>
          </a:p>
          <a:p>
            <a:pPr algn="ctr"/>
            <a:endParaRPr lang="en-IN" sz="2000" b="1" dirty="0"/>
          </a:p>
        </p:txBody>
      </p:sp>
      <p:sp>
        <p:nvSpPr>
          <p:cNvPr id="24" name="Rectangle 23">
            <a:extLst>
              <a:ext uri="{FF2B5EF4-FFF2-40B4-BE49-F238E27FC236}">
                <a16:creationId xmlns:a16="http://schemas.microsoft.com/office/drawing/2014/main" id="{B40EFB64-2C2E-86EE-F380-8B2D666DAC1D}"/>
              </a:ext>
            </a:extLst>
          </p:cNvPr>
          <p:cNvSpPr/>
          <p:nvPr/>
        </p:nvSpPr>
        <p:spPr>
          <a:xfrm>
            <a:off x="6096000" y="5088262"/>
            <a:ext cx="1270000" cy="102684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000" b="1" dirty="0"/>
              <a:t>Training / Testing</a:t>
            </a:r>
            <a:endParaRPr lang="en-IN" sz="2000" b="1" dirty="0"/>
          </a:p>
        </p:txBody>
      </p:sp>
      <p:sp>
        <p:nvSpPr>
          <p:cNvPr id="25" name="Rectangle: Rounded Corners 24">
            <a:extLst>
              <a:ext uri="{FF2B5EF4-FFF2-40B4-BE49-F238E27FC236}">
                <a16:creationId xmlns:a16="http://schemas.microsoft.com/office/drawing/2014/main" id="{68652E2A-2FFC-23B3-763B-AB8E22251E69}"/>
              </a:ext>
            </a:extLst>
          </p:cNvPr>
          <p:cNvSpPr/>
          <p:nvPr/>
        </p:nvSpPr>
        <p:spPr>
          <a:xfrm rot="5400000">
            <a:off x="6274668" y="4470411"/>
            <a:ext cx="976663" cy="259039"/>
          </a:xfrm>
          <a:prstGeom prst="roundRect">
            <a:avLst/>
          </a:prstGeom>
          <a:solidFill>
            <a:schemeClr val="accent4">
              <a:lumMod val="40000"/>
              <a:lumOff val="6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350EFDA0-2467-6CB3-BFD1-C94AE7D55C60}"/>
              </a:ext>
            </a:extLst>
          </p:cNvPr>
          <p:cNvSpPr/>
          <p:nvPr/>
        </p:nvSpPr>
        <p:spPr>
          <a:xfrm rot="5400000">
            <a:off x="6284560" y="2454358"/>
            <a:ext cx="976663" cy="259039"/>
          </a:xfrm>
          <a:prstGeom prst="roundRect">
            <a:avLst/>
          </a:prstGeom>
          <a:solidFill>
            <a:schemeClr val="accent4">
              <a:lumMod val="40000"/>
              <a:lumOff val="6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cxnSp>
        <p:nvCxnSpPr>
          <p:cNvPr id="29" name="Straight Connector 28">
            <a:extLst>
              <a:ext uri="{FF2B5EF4-FFF2-40B4-BE49-F238E27FC236}">
                <a16:creationId xmlns:a16="http://schemas.microsoft.com/office/drawing/2014/main" id="{BB9C9146-ACC0-CDF5-EA42-01A21E809608}"/>
              </a:ext>
            </a:extLst>
          </p:cNvPr>
          <p:cNvCxnSpPr>
            <a:stCxn id="12" idx="1"/>
            <a:endCxn id="12" idx="3"/>
          </p:cNvCxnSpPr>
          <p:nvPr/>
        </p:nvCxnSpPr>
        <p:spPr>
          <a:xfrm>
            <a:off x="1666147" y="3585634"/>
            <a:ext cx="643467"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C0BEDA93-EE43-ABA1-33B2-B00602F037A3}"/>
              </a:ext>
            </a:extLst>
          </p:cNvPr>
          <p:cNvCxnSpPr/>
          <p:nvPr/>
        </p:nvCxnSpPr>
        <p:spPr>
          <a:xfrm>
            <a:off x="3571147" y="3585634"/>
            <a:ext cx="643467" cy="0"/>
          </a:xfrm>
          <a:prstGeom prst="line">
            <a:avLst/>
          </a:prstGeom>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D2C62EC7-6950-5014-2177-79BC7CEBAE88}"/>
              </a:ext>
            </a:extLst>
          </p:cNvPr>
          <p:cNvCxnSpPr/>
          <p:nvPr/>
        </p:nvCxnSpPr>
        <p:spPr>
          <a:xfrm>
            <a:off x="5501548" y="3585634"/>
            <a:ext cx="643467" cy="0"/>
          </a:xfrm>
          <a:prstGeom prst="line">
            <a:avLst/>
          </a:prstGeom>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B93E3C1B-AFFA-EFE7-6CDA-6F3457F529B5}"/>
              </a:ext>
            </a:extLst>
          </p:cNvPr>
          <p:cNvCxnSpPr/>
          <p:nvPr/>
        </p:nvCxnSpPr>
        <p:spPr>
          <a:xfrm>
            <a:off x="7415015" y="3605947"/>
            <a:ext cx="643467" cy="0"/>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9529EA81-F556-4020-CC9D-1B182560462D}"/>
              </a:ext>
            </a:extLst>
          </p:cNvPr>
          <p:cNvCxnSpPr/>
          <p:nvPr/>
        </p:nvCxnSpPr>
        <p:spPr>
          <a:xfrm flipH="1">
            <a:off x="6772891" y="2214694"/>
            <a:ext cx="7124" cy="6878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AA365988-1365-BD3A-E9F3-89C508B43029}"/>
              </a:ext>
            </a:extLst>
          </p:cNvPr>
          <p:cNvCxnSpPr>
            <a:cxnSpLocks/>
          </p:cNvCxnSpPr>
          <p:nvPr/>
        </p:nvCxnSpPr>
        <p:spPr>
          <a:xfrm flipV="1">
            <a:off x="6771548" y="4248586"/>
            <a:ext cx="1343" cy="62541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BCD38BFB-A0B3-9337-6A65-40F5E7BB035A}"/>
              </a:ext>
            </a:extLst>
          </p:cNvPr>
          <p:cNvCxnSpPr>
            <a:cxnSpLocks/>
          </p:cNvCxnSpPr>
          <p:nvPr/>
        </p:nvCxnSpPr>
        <p:spPr>
          <a:xfrm flipV="1">
            <a:off x="9742040" y="2821541"/>
            <a:ext cx="874308" cy="7103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832B443D-4BFF-2CD0-934B-C85ABB4EF6DA}"/>
              </a:ext>
            </a:extLst>
          </p:cNvPr>
          <p:cNvCxnSpPr>
            <a:cxnSpLocks/>
          </p:cNvCxnSpPr>
          <p:nvPr/>
        </p:nvCxnSpPr>
        <p:spPr>
          <a:xfrm>
            <a:off x="9719343" y="3691511"/>
            <a:ext cx="866892" cy="5206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1756565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10B59-940E-825D-2CA2-4441C4A24430}"/>
            </a:ext>
          </a:extLst>
        </p:cNvPr>
        <p:cNvGrpSpPr/>
        <p:nvPr/>
      </p:nvGrpSpPr>
      <p:grpSpPr>
        <a:xfrm>
          <a:off x="0" y="0"/>
          <a:ext cx="0" cy="0"/>
          <a:chOff x="0" y="0"/>
          <a:chExt cx="0" cy="0"/>
        </a:xfrm>
      </p:grpSpPr>
      <p:sp>
        <p:nvSpPr>
          <p:cNvPr id="2" name="Google Shape;101;p1">
            <a:extLst>
              <a:ext uri="{FF2B5EF4-FFF2-40B4-BE49-F238E27FC236}">
                <a16:creationId xmlns:a16="http://schemas.microsoft.com/office/drawing/2014/main" id="{8855CD93-F256-098E-D10F-6635BDB23D24}"/>
              </a:ext>
            </a:extLst>
          </p:cNvPr>
          <p:cNvSpPr/>
          <p:nvPr/>
        </p:nvSpPr>
        <p:spPr>
          <a:xfrm>
            <a:off x="10617958" y="0"/>
            <a:ext cx="1446781" cy="1173707"/>
          </a:xfrm>
          <a:custGeom>
            <a:avLst/>
            <a:gdLst/>
            <a:ahLst/>
            <a:cxnLst/>
            <a:rect l="l" t="t" r="r" b="b"/>
            <a:pathLst>
              <a:path w="1283459" h="963151" extrusionOk="0">
                <a:moveTo>
                  <a:pt x="0" y="0"/>
                </a:moveTo>
                <a:lnTo>
                  <a:pt x="1283459" y="0"/>
                </a:lnTo>
                <a:lnTo>
                  <a:pt x="1283459" y="963151"/>
                </a:lnTo>
                <a:lnTo>
                  <a:pt x="0" y="963151"/>
                </a:lnTo>
                <a:lnTo>
                  <a:pt x="0" y="0"/>
                </a:lnTo>
                <a:close/>
              </a:path>
            </a:pathLst>
          </a:custGeom>
          <a:blipFill rotWithShape="1">
            <a:blip r:embed="rId2">
              <a:alphaModFix amt="94000"/>
            </a:blip>
            <a:stretch>
              <a:fillRect/>
            </a:stretch>
          </a:blipFill>
          <a:ln>
            <a:noFill/>
          </a:ln>
        </p:spPr>
        <p:txBody>
          <a:bodyPr/>
          <a:lstStyle/>
          <a:p>
            <a:endParaRPr lang="en-IN"/>
          </a:p>
        </p:txBody>
      </p:sp>
      <p:sp>
        <p:nvSpPr>
          <p:cNvPr id="6" name="Google Shape;96;p2">
            <a:extLst>
              <a:ext uri="{FF2B5EF4-FFF2-40B4-BE49-F238E27FC236}">
                <a16:creationId xmlns:a16="http://schemas.microsoft.com/office/drawing/2014/main" id="{9233FB61-A45E-2F3C-E799-E403D74EA61D}"/>
              </a:ext>
            </a:extLst>
          </p:cNvPr>
          <p:cNvSpPr txBox="1">
            <a:spLocks noGrp="1"/>
          </p:cNvSpPr>
          <p:nvPr/>
        </p:nvSpPr>
        <p:spPr>
          <a:xfrm>
            <a:off x="1031147" y="422414"/>
            <a:ext cx="9664816" cy="978548"/>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chemeClr val="dk1"/>
              </a:buClr>
              <a:buSzPts val="4400"/>
              <a:buFont typeface="Times New Roman"/>
              <a:buNone/>
            </a:pPr>
            <a:r>
              <a:rPr lang="en-US" sz="3600" b="1" dirty="0">
                <a:latin typeface="Times New Roman"/>
                <a:ea typeface="Times New Roman"/>
                <a:cs typeface="Times New Roman"/>
                <a:sym typeface="Times New Roman"/>
              </a:rPr>
              <a:t>Implementation</a:t>
            </a:r>
            <a:endParaRPr sz="3600"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CA95EF94-3E11-5C46-8109-5BF2D0F92F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2804" y="1256436"/>
            <a:ext cx="5433060" cy="5179150"/>
          </a:xfrm>
          <a:prstGeom prst="rect">
            <a:avLst/>
          </a:prstGeom>
        </p:spPr>
      </p:pic>
      <p:pic>
        <p:nvPicPr>
          <p:cNvPr id="5" name="Picture 4">
            <a:extLst>
              <a:ext uri="{FF2B5EF4-FFF2-40B4-BE49-F238E27FC236}">
                <a16:creationId xmlns:a16="http://schemas.microsoft.com/office/drawing/2014/main" id="{6F53D1D5-9373-6633-569C-DFFC6DDEF3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5814" y="2691211"/>
            <a:ext cx="5368925" cy="1999615"/>
          </a:xfrm>
          <a:prstGeom prst="rect">
            <a:avLst/>
          </a:prstGeom>
        </p:spPr>
      </p:pic>
    </p:spTree>
    <p:extLst>
      <p:ext uri="{BB962C8B-B14F-4D97-AF65-F5344CB8AC3E}">
        <p14:creationId xmlns:p14="http://schemas.microsoft.com/office/powerpoint/2010/main" val="351132965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A08B1-08BE-3737-E4D7-4DE24B9B4F16}"/>
            </a:ext>
          </a:extLst>
        </p:cNvPr>
        <p:cNvGrpSpPr/>
        <p:nvPr/>
      </p:nvGrpSpPr>
      <p:grpSpPr>
        <a:xfrm>
          <a:off x="0" y="0"/>
          <a:ext cx="0" cy="0"/>
          <a:chOff x="0" y="0"/>
          <a:chExt cx="0" cy="0"/>
        </a:xfrm>
      </p:grpSpPr>
      <p:sp>
        <p:nvSpPr>
          <p:cNvPr id="2" name="Google Shape;101;p1">
            <a:extLst>
              <a:ext uri="{FF2B5EF4-FFF2-40B4-BE49-F238E27FC236}">
                <a16:creationId xmlns:a16="http://schemas.microsoft.com/office/drawing/2014/main" id="{FB24161E-DC95-C747-65EA-F502569B0A68}"/>
              </a:ext>
            </a:extLst>
          </p:cNvPr>
          <p:cNvSpPr/>
          <p:nvPr/>
        </p:nvSpPr>
        <p:spPr>
          <a:xfrm>
            <a:off x="10617958" y="0"/>
            <a:ext cx="1446781" cy="1173707"/>
          </a:xfrm>
          <a:custGeom>
            <a:avLst/>
            <a:gdLst/>
            <a:ahLst/>
            <a:cxnLst/>
            <a:rect l="l" t="t" r="r" b="b"/>
            <a:pathLst>
              <a:path w="1283459" h="963151" extrusionOk="0">
                <a:moveTo>
                  <a:pt x="0" y="0"/>
                </a:moveTo>
                <a:lnTo>
                  <a:pt x="1283459" y="0"/>
                </a:lnTo>
                <a:lnTo>
                  <a:pt x="1283459" y="963151"/>
                </a:lnTo>
                <a:lnTo>
                  <a:pt x="0" y="963151"/>
                </a:lnTo>
                <a:lnTo>
                  <a:pt x="0" y="0"/>
                </a:lnTo>
                <a:close/>
              </a:path>
            </a:pathLst>
          </a:custGeom>
          <a:blipFill rotWithShape="1">
            <a:blip r:embed="rId2">
              <a:alphaModFix amt="94000"/>
            </a:blip>
            <a:stretch>
              <a:fillRect/>
            </a:stretch>
          </a:blipFill>
          <a:ln>
            <a:noFill/>
          </a:ln>
        </p:spPr>
        <p:txBody>
          <a:bodyPr/>
          <a:lstStyle/>
          <a:p>
            <a:endParaRPr lang="en-IN"/>
          </a:p>
        </p:txBody>
      </p:sp>
      <p:sp>
        <p:nvSpPr>
          <p:cNvPr id="6" name="Google Shape;96;p2">
            <a:extLst>
              <a:ext uri="{FF2B5EF4-FFF2-40B4-BE49-F238E27FC236}">
                <a16:creationId xmlns:a16="http://schemas.microsoft.com/office/drawing/2014/main" id="{7197E25A-E08A-47F3-CA6A-E0DE0ED7BE9E}"/>
              </a:ext>
            </a:extLst>
          </p:cNvPr>
          <p:cNvSpPr txBox="1">
            <a:spLocks noGrp="1"/>
          </p:cNvSpPr>
          <p:nvPr/>
        </p:nvSpPr>
        <p:spPr>
          <a:xfrm>
            <a:off x="850652" y="357137"/>
            <a:ext cx="1051560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chemeClr val="dk1"/>
              </a:buClr>
              <a:buSzPts val="4400"/>
              <a:buFont typeface="Times New Roman"/>
              <a:buNone/>
            </a:pPr>
            <a:r>
              <a:rPr lang="en-US" sz="3600" b="1" dirty="0">
                <a:latin typeface="Times New Roman"/>
                <a:ea typeface="Times New Roman"/>
                <a:cs typeface="Times New Roman"/>
                <a:sym typeface="Times New Roman"/>
              </a:rPr>
              <a:t>Conclusion</a:t>
            </a:r>
            <a:endParaRPr sz="3600" b="1" dirty="0">
              <a:latin typeface="Times New Roman"/>
              <a:ea typeface="Times New Roman"/>
              <a:cs typeface="Times New Roman"/>
              <a:sym typeface="Times New Roman"/>
            </a:endParaRPr>
          </a:p>
        </p:txBody>
      </p:sp>
      <p:sp>
        <p:nvSpPr>
          <p:cNvPr id="7" name="Google Shape;97;p2">
            <a:extLst>
              <a:ext uri="{FF2B5EF4-FFF2-40B4-BE49-F238E27FC236}">
                <a16:creationId xmlns:a16="http://schemas.microsoft.com/office/drawing/2014/main" id="{885C2079-2057-A023-5787-2B9B14CDB47B}"/>
              </a:ext>
            </a:extLst>
          </p:cNvPr>
          <p:cNvSpPr txBox="1">
            <a:spLocks noGrp="1"/>
          </p:cNvSpPr>
          <p:nvPr/>
        </p:nvSpPr>
        <p:spPr>
          <a:xfrm>
            <a:off x="825748" y="1253331"/>
            <a:ext cx="10515600" cy="435133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lvl="0" indent="0" algn="just" rtl="0">
              <a:lnSpc>
                <a:spcPct val="150000"/>
              </a:lnSpc>
              <a:spcBef>
                <a:spcPts val="1000"/>
              </a:spcBef>
              <a:spcAft>
                <a:spcPts val="0"/>
              </a:spcAft>
              <a:buClr>
                <a:schemeClr val="dk1"/>
              </a:buClr>
              <a:buSzPts val="2800"/>
              <a:buNone/>
            </a:pPr>
            <a:r>
              <a:rPr lang="en-US" sz="2000" dirty="0"/>
              <a:t>The project shows how AI can transform diabetes care. Using diverse data and ethical AI helps give personalized treatment. Predictive analytics help doctors and patients make smarter decisions. With ongoing research, we can enter a new era of precision medicine - treatments made just for us.</a:t>
            </a:r>
          </a:p>
        </p:txBody>
      </p:sp>
    </p:spTree>
    <p:extLst>
      <p:ext uri="{BB962C8B-B14F-4D97-AF65-F5344CB8AC3E}">
        <p14:creationId xmlns:p14="http://schemas.microsoft.com/office/powerpoint/2010/main" val="11949215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519</TotalTime>
  <Words>850</Words>
  <Application>Microsoft Office PowerPoint</Application>
  <PresentationFormat>Widescreen</PresentationFormat>
  <Paragraphs>70</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Courier New</vt:lpstr>
      <vt:lpstr>Times New Roman</vt:lpstr>
      <vt:lpstr>Tw Cen 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Kavit Heisnam</dc:creator>
  <cp:lastModifiedBy>Kavit Heisnam</cp:lastModifiedBy>
  <cp:revision>7</cp:revision>
  <dcterms:created xsi:type="dcterms:W3CDTF">2025-04-10T09:58:52Z</dcterms:created>
  <dcterms:modified xsi:type="dcterms:W3CDTF">2025-09-09T15:13:58Z</dcterms:modified>
</cp:coreProperties>
</file>